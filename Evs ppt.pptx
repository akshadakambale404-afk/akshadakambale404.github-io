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7" r:id="rId11"/>
    <p:sldId id="268" r:id="rId12"/>
    <p:sldId id="269" r:id="rId13"/>
    <p:sldId id="265" r:id="rId14"/>
    <p:sldId id="266"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414C0F-C90B-7152-9881-5EFDE7DAE37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89DE6CA-3034-B872-8F08-9F2BAF136DC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5290BB4-DE4E-C9D6-3334-4F235D0E76CD}"/>
              </a:ext>
            </a:extLst>
          </p:cNvPr>
          <p:cNvSpPr>
            <a:spLocks noGrp="1"/>
          </p:cNvSpPr>
          <p:nvPr>
            <p:ph type="dt" sz="half" idx="10"/>
          </p:nvPr>
        </p:nvSpPr>
        <p:spPr/>
        <p:txBody>
          <a:bodyPr/>
          <a:lstStyle/>
          <a:p>
            <a:fld id="{9BC8F462-C855-4D99-A126-0D564291AF10}" type="datetimeFigureOut">
              <a:rPr lang="en-IN" smtClean="0"/>
              <a:t>12-05-2026</a:t>
            </a:fld>
            <a:endParaRPr lang="en-IN"/>
          </a:p>
        </p:txBody>
      </p:sp>
      <p:sp>
        <p:nvSpPr>
          <p:cNvPr id="5" name="Footer Placeholder 4">
            <a:extLst>
              <a:ext uri="{FF2B5EF4-FFF2-40B4-BE49-F238E27FC236}">
                <a16:creationId xmlns:a16="http://schemas.microsoft.com/office/drawing/2014/main" id="{A68266CC-3D5B-E22D-B73A-63133F3F342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863BE24-0141-30BF-0699-3010D4126EED}"/>
              </a:ext>
            </a:extLst>
          </p:cNvPr>
          <p:cNvSpPr>
            <a:spLocks noGrp="1"/>
          </p:cNvSpPr>
          <p:nvPr>
            <p:ph type="sldNum" sz="quarter" idx="12"/>
          </p:nvPr>
        </p:nvSpPr>
        <p:spPr/>
        <p:txBody>
          <a:bodyPr/>
          <a:lstStyle/>
          <a:p>
            <a:fld id="{BC48E330-5323-42B9-B8B5-1C1F3AF38D40}" type="slidenum">
              <a:rPr lang="en-IN" smtClean="0"/>
              <a:t>‹#›</a:t>
            </a:fld>
            <a:endParaRPr lang="en-IN"/>
          </a:p>
        </p:txBody>
      </p:sp>
    </p:spTree>
    <p:extLst>
      <p:ext uri="{BB962C8B-B14F-4D97-AF65-F5344CB8AC3E}">
        <p14:creationId xmlns:p14="http://schemas.microsoft.com/office/powerpoint/2010/main" val="22798051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D2509-7004-3F46-4FA0-A49F4E8590A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BEBA9FD-26F2-DB87-83C5-DE76E1EA36D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8BE9B49-FDE2-BE4D-56AB-F94CFBE8C318}"/>
              </a:ext>
            </a:extLst>
          </p:cNvPr>
          <p:cNvSpPr>
            <a:spLocks noGrp="1"/>
          </p:cNvSpPr>
          <p:nvPr>
            <p:ph type="dt" sz="half" idx="10"/>
          </p:nvPr>
        </p:nvSpPr>
        <p:spPr/>
        <p:txBody>
          <a:bodyPr/>
          <a:lstStyle/>
          <a:p>
            <a:fld id="{9BC8F462-C855-4D99-A126-0D564291AF10}" type="datetimeFigureOut">
              <a:rPr lang="en-IN" smtClean="0"/>
              <a:t>12-05-2026</a:t>
            </a:fld>
            <a:endParaRPr lang="en-IN"/>
          </a:p>
        </p:txBody>
      </p:sp>
      <p:sp>
        <p:nvSpPr>
          <p:cNvPr id="5" name="Footer Placeholder 4">
            <a:extLst>
              <a:ext uri="{FF2B5EF4-FFF2-40B4-BE49-F238E27FC236}">
                <a16:creationId xmlns:a16="http://schemas.microsoft.com/office/drawing/2014/main" id="{6172182F-0001-9B83-E498-C7D721023DA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D372BDE-D4D1-AA50-5641-980D6FAE3A98}"/>
              </a:ext>
            </a:extLst>
          </p:cNvPr>
          <p:cNvSpPr>
            <a:spLocks noGrp="1"/>
          </p:cNvSpPr>
          <p:nvPr>
            <p:ph type="sldNum" sz="quarter" idx="12"/>
          </p:nvPr>
        </p:nvSpPr>
        <p:spPr/>
        <p:txBody>
          <a:bodyPr/>
          <a:lstStyle/>
          <a:p>
            <a:fld id="{BC48E330-5323-42B9-B8B5-1C1F3AF38D40}" type="slidenum">
              <a:rPr lang="en-IN" smtClean="0"/>
              <a:t>‹#›</a:t>
            </a:fld>
            <a:endParaRPr lang="en-IN"/>
          </a:p>
        </p:txBody>
      </p:sp>
    </p:spTree>
    <p:extLst>
      <p:ext uri="{BB962C8B-B14F-4D97-AF65-F5344CB8AC3E}">
        <p14:creationId xmlns:p14="http://schemas.microsoft.com/office/powerpoint/2010/main" val="9343222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790ED3-9495-3DB2-815F-C7B489DA6BA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E60C3D1-359F-2B26-F9CD-9C7A0763D85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99D7170-FA8A-8264-4591-C86F8B9287AC}"/>
              </a:ext>
            </a:extLst>
          </p:cNvPr>
          <p:cNvSpPr>
            <a:spLocks noGrp="1"/>
          </p:cNvSpPr>
          <p:nvPr>
            <p:ph type="dt" sz="half" idx="10"/>
          </p:nvPr>
        </p:nvSpPr>
        <p:spPr/>
        <p:txBody>
          <a:bodyPr/>
          <a:lstStyle/>
          <a:p>
            <a:fld id="{9BC8F462-C855-4D99-A126-0D564291AF10}" type="datetimeFigureOut">
              <a:rPr lang="en-IN" smtClean="0"/>
              <a:t>12-05-2026</a:t>
            </a:fld>
            <a:endParaRPr lang="en-IN"/>
          </a:p>
        </p:txBody>
      </p:sp>
      <p:sp>
        <p:nvSpPr>
          <p:cNvPr id="5" name="Footer Placeholder 4">
            <a:extLst>
              <a:ext uri="{FF2B5EF4-FFF2-40B4-BE49-F238E27FC236}">
                <a16:creationId xmlns:a16="http://schemas.microsoft.com/office/drawing/2014/main" id="{FCBCE27A-EFCC-5059-F9D2-763D00FBBB8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9E184F9-2151-A16A-8C1C-8DF7313270E3}"/>
              </a:ext>
            </a:extLst>
          </p:cNvPr>
          <p:cNvSpPr>
            <a:spLocks noGrp="1"/>
          </p:cNvSpPr>
          <p:nvPr>
            <p:ph type="sldNum" sz="quarter" idx="12"/>
          </p:nvPr>
        </p:nvSpPr>
        <p:spPr/>
        <p:txBody>
          <a:bodyPr/>
          <a:lstStyle/>
          <a:p>
            <a:fld id="{BC48E330-5323-42B9-B8B5-1C1F3AF38D40}" type="slidenum">
              <a:rPr lang="en-IN" smtClean="0"/>
              <a:t>‹#›</a:t>
            </a:fld>
            <a:endParaRPr lang="en-IN"/>
          </a:p>
        </p:txBody>
      </p:sp>
    </p:spTree>
    <p:extLst>
      <p:ext uri="{BB962C8B-B14F-4D97-AF65-F5344CB8AC3E}">
        <p14:creationId xmlns:p14="http://schemas.microsoft.com/office/powerpoint/2010/main" val="28420635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56E4C-4467-15FA-C466-459B219F577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E5B6C6E-4995-3ECA-5C8A-E30EEA1B72A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013959B-F14D-5899-8AA0-E93D16D43A7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071E2B9-B1EE-CFD8-4F23-A20D7BF632D9}"/>
              </a:ext>
            </a:extLst>
          </p:cNvPr>
          <p:cNvSpPr>
            <a:spLocks noGrp="1"/>
          </p:cNvSpPr>
          <p:nvPr>
            <p:ph type="dt" sz="half" idx="10"/>
          </p:nvPr>
        </p:nvSpPr>
        <p:spPr/>
        <p:txBody>
          <a:bodyPr/>
          <a:lstStyle/>
          <a:p>
            <a:fld id="{9BC8F462-C855-4D99-A126-0D564291AF10}" type="datetimeFigureOut">
              <a:rPr lang="en-IN" smtClean="0"/>
              <a:t>12-05-2026</a:t>
            </a:fld>
            <a:endParaRPr lang="en-IN"/>
          </a:p>
        </p:txBody>
      </p:sp>
      <p:sp>
        <p:nvSpPr>
          <p:cNvPr id="6" name="Footer Placeholder 5">
            <a:extLst>
              <a:ext uri="{FF2B5EF4-FFF2-40B4-BE49-F238E27FC236}">
                <a16:creationId xmlns:a16="http://schemas.microsoft.com/office/drawing/2014/main" id="{A8DAA8D3-3B0C-C580-9048-48DD34CF185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75CC5AC-F499-9CB7-310C-AB278D89F3A4}"/>
              </a:ext>
            </a:extLst>
          </p:cNvPr>
          <p:cNvSpPr>
            <a:spLocks noGrp="1"/>
          </p:cNvSpPr>
          <p:nvPr>
            <p:ph type="sldNum" sz="quarter" idx="12"/>
          </p:nvPr>
        </p:nvSpPr>
        <p:spPr/>
        <p:txBody>
          <a:bodyPr/>
          <a:lstStyle/>
          <a:p>
            <a:fld id="{BC48E330-5323-42B9-B8B5-1C1F3AF38D40}" type="slidenum">
              <a:rPr lang="en-IN" smtClean="0"/>
              <a:t>‹#›</a:t>
            </a:fld>
            <a:endParaRPr lang="en-IN"/>
          </a:p>
        </p:txBody>
      </p:sp>
    </p:spTree>
    <p:extLst>
      <p:ext uri="{BB962C8B-B14F-4D97-AF65-F5344CB8AC3E}">
        <p14:creationId xmlns:p14="http://schemas.microsoft.com/office/powerpoint/2010/main" val="19502967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EFC51-1710-143A-30D7-BB076B1D792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A72EF70-6354-75B0-BA36-4F39FE4FE2D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8CC36A7-8B1F-BB3F-4445-8429DCF1ABD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AFFAA42-C61A-73AF-361E-29B842A8E6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744767A-DA11-4AC6-9C3A-B1132C82DAB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04A4478-9BA9-7FB1-5FED-1A6861814305}"/>
              </a:ext>
            </a:extLst>
          </p:cNvPr>
          <p:cNvSpPr>
            <a:spLocks noGrp="1"/>
          </p:cNvSpPr>
          <p:nvPr>
            <p:ph type="dt" sz="half" idx="10"/>
          </p:nvPr>
        </p:nvSpPr>
        <p:spPr/>
        <p:txBody>
          <a:bodyPr/>
          <a:lstStyle/>
          <a:p>
            <a:fld id="{9BC8F462-C855-4D99-A126-0D564291AF10}" type="datetimeFigureOut">
              <a:rPr lang="en-IN" smtClean="0"/>
              <a:t>12-05-2026</a:t>
            </a:fld>
            <a:endParaRPr lang="en-IN"/>
          </a:p>
        </p:txBody>
      </p:sp>
      <p:sp>
        <p:nvSpPr>
          <p:cNvPr id="8" name="Footer Placeholder 7">
            <a:extLst>
              <a:ext uri="{FF2B5EF4-FFF2-40B4-BE49-F238E27FC236}">
                <a16:creationId xmlns:a16="http://schemas.microsoft.com/office/drawing/2014/main" id="{00A744C0-0D22-2782-351C-E4FD25ED416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9A5584C-7964-3460-734B-6B913C5C0897}"/>
              </a:ext>
            </a:extLst>
          </p:cNvPr>
          <p:cNvSpPr>
            <a:spLocks noGrp="1"/>
          </p:cNvSpPr>
          <p:nvPr>
            <p:ph type="sldNum" sz="quarter" idx="12"/>
          </p:nvPr>
        </p:nvSpPr>
        <p:spPr/>
        <p:txBody>
          <a:bodyPr/>
          <a:lstStyle/>
          <a:p>
            <a:fld id="{BC48E330-5323-42B9-B8B5-1C1F3AF38D40}" type="slidenum">
              <a:rPr lang="en-IN" smtClean="0"/>
              <a:t>‹#›</a:t>
            </a:fld>
            <a:endParaRPr lang="en-IN"/>
          </a:p>
        </p:txBody>
      </p:sp>
    </p:spTree>
    <p:extLst>
      <p:ext uri="{BB962C8B-B14F-4D97-AF65-F5344CB8AC3E}">
        <p14:creationId xmlns:p14="http://schemas.microsoft.com/office/powerpoint/2010/main" val="19292018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90899-EBE4-CCCC-98F3-42078858D06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E5C612C-1A27-9B5A-0833-6E4E9F895083}"/>
              </a:ext>
            </a:extLst>
          </p:cNvPr>
          <p:cNvSpPr>
            <a:spLocks noGrp="1"/>
          </p:cNvSpPr>
          <p:nvPr>
            <p:ph type="dt" sz="half" idx="10"/>
          </p:nvPr>
        </p:nvSpPr>
        <p:spPr/>
        <p:txBody>
          <a:bodyPr/>
          <a:lstStyle/>
          <a:p>
            <a:fld id="{9BC8F462-C855-4D99-A126-0D564291AF10}" type="datetimeFigureOut">
              <a:rPr lang="en-IN" smtClean="0"/>
              <a:t>12-05-2026</a:t>
            </a:fld>
            <a:endParaRPr lang="en-IN"/>
          </a:p>
        </p:txBody>
      </p:sp>
      <p:sp>
        <p:nvSpPr>
          <p:cNvPr id="4" name="Footer Placeholder 3">
            <a:extLst>
              <a:ext uri="{FF2B5EF4-FFF2-40B4-BE49-F238E27FC236}">
                <a16:creationId xmlns:a16="http://schemas.microsoft.com/office/drawing/2014/main" id="{359B5947-B558-5388-AF14-1CAF909EAC6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CA462AC-8F5C-99DE-26CD-25CE1D8AD098}"/>
              </a:ext>
            </a:extLst>
          </p:cNvPr>
          <p:cNvSpPr>
            <a:spLocks noGrp="1"/>
          </p:cNvSpPr>
          <p:nvPr>
            <p:ph type="sldNum" sz="quarter" idx="12"/>
          </p:nvPr>
        </p:nvSpPr>
        <p:spPr/>
        <p:txBody>
          <a:bodyPr/>
          <a:lstStyle/>
          <a:p>
            <a:fld id="{BC48E330-5323-42B9-B8B5-1C1F3AF38D40}" type="slidenum">
              <a:rPr lang="en-IN" smtClean="0"/>
              <a:t>‹#›</a:t>
            </a:fld>
            <a:endParaRPr lang="en-IN"/>
          </a:p>
        </p:txBody>
      </p:sp>
    </p:spTree>
    <p:extLst>
      <p:ext uri="{BB962C8B-B14F-4D97-AF65-F5344CB8AC3E}">
        <p14:creationId xmlns:p14="http://schemas.microsoft.com/office/powerpoint/2010/main" val="1211039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CC2AE59-4974-FEF9-C7B6-3B3C2473EE2C}"/>
              </a:ext>
            </a:extLst>
          </p:cNvPr>
          <p:cNvSpPr>
            <a:spLocks noGrp="1"/>
          </p:cNvSpPr>
          <p:nvPr>
            <p:ph type="dt" sz="half" idx="10"/>
          </p:nvPr>
        </p:nvSpPr>
        <p:spPr/>
        <p:txBody>
          <a:bodyPr/>
          <a:lstStyle/>
          <a:p>
            <a:fld id="{9BC8F462-C855-4D99-A126-0D564291AF10}" type="datetimeFigureOut">
              <a:rPr lang="en-IN" smtClean="0"/>
              <a:t>12-05-2026</a:t>
            </a:fld>
            <a:endParaRPr lang="en-IN"/>
          </a:p>
        </p:txBody>
      </p:sp>
      <p:sp>
        <p:nvSpPr>
          <p:cNvPr id="3" name="Footer Placeholder 2">
            <a:extLst>
              <a:ext uri="{FF2B5EF4-FFF2-40B4-BE49-F238E27FC236}">
                <a16:creationId xmlns:a16="http://schemas.microsoft.com/office/drawing/2014/main" id="{4D0EE3C2-82C1-4575-3FFF-BCAD2D13BC8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DEB075E-BFE9-8D15-ECA1-1C21757EA573}"/>
              </a:ext>
            </a:extLst>
          </p:cNvPr>
          <p:cNvSpPr>
            <a:spLocks noGrp="1"/>
          </p:cNvSpPr>
          <p:nvPr>
            <p:ph type="sldNum" sz="quarter" idx="12"/>
          </p:nvPr>
        </p:nvSpPr>
        <p:spPr/>
        <p:txBody>
          <a:bodyPr/>
          <a:lstStyle/>
          <a:p>
            <a:fld id="{BC48E330-5323-42B9-B8B5-1C1F3AF38D40}" type="slidenum">
              <a:rPr lang="en-IN" smtClean="0"/>
              <a:t>‹#›</a:t>
            </a:fld>
            <a:endParaRPr lang="en-IN"/>
          </a:p>
        </p:txBody>
      </p:sp>
    </p:spTree>
    <p:extLst>
      <p:ext uri="{BB962C8B-B14F-4D97-AF65-F5344CB8AC3E}">
        <p14:creationId xmlns:p14="http://schemas.microsoft.com/office/powerpoint/2010/main" val="11562317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0D704-7E78-9950-EBEA-7BF834BCAA5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82C7691-516E-1E34-2739-F0B96136F31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6B2A11C-8948-ABA6-4C41-1B63B9F2A1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839379-7432-059D-9CBE-0C3EF4C31D78}"/>
              </a:ext>
            </a:extLst>
          </p:cNvPr>
          <p:cNvSpPr>
            <a:spLocks noGrp="1"/>
          </p:cNvSpPr>
          <p:nvPr>
            <p:ph type="dt" sz="half" idx="10"/>
          </p:nvPr>
        </p:nvSpPr>
        <p:spPr/>
        <p:txBody>
          <a:bodyPr/>
          <a:lstStyle/>
          <a:p>
            <a:fld id="{9BC8F462-C855-4D99-A126-0D564291AF10}" type="datetimeFigureOut">
              <a:rPr lang="en-IN" smtClean="0"/>
              <a:t>12-05-2026</a:t>
            </a:fld>
            <a:endParaRPr lang="en-IN"/>
          </a:p>
        </p:txBody>
      </p:sp>
      <p:sp>
        <p:nvSpPr>
          <p:cNvPr id="6" name="Footer Placeholder 5">
            <a:extLst>
              <a:ext uri="{FF2B5EF4-FFF2-40B4-BE49-F238E27FC236}">
                <a16:creationId xmlns:a16="http://schemas.microsoft.com/office/drawing/2014/main" id="{288152EF-20E5-03A2-7D1D-87CC5C1FDAE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E758652-688C-4E91-9015-352FDBA7CE76}"/>
              </a:ext>
            </a:extLst>
          </p:cNvPr>
          <p:cNvSpPr>
            <a:spLocks noGrp="1"/>
          </p:cNvSpPr>
          <p:nvPr>
            <p:ph type="sldNum" sz="quarter" idx="12"/>
          </p:nvPr>
        </p:nvSpPr>
        <p:spPr/>
        <p:txBody>
          <a:bodyPr/>
          <a:lstStyle/>
          <a:p>
            <a:fld id="{BC48E330-5323-42B9-B8B5-1C1F3AF38D40}" type="slidenum">
              <a:rPr lang="en-IN" smtClean="0"/>
              <a:t>‹#›</a:t>
            </a:fld>
            <a:endParaRPr lang="en-IN"/>
          </a:p>
        </p:txBody>
      </p:sp>
    </p:spTree>
    <p:extLst>
      <p:ext uri="{BB962C8B-B14F-4D97-AF65-F5344CB8AC3E}">
        <p14:creationId xmlns:p14="http://schemas.microsoft.com/office/powerpoint/2010/main" val="31609977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F4985-DEA8-91F7-8476-3A1689B8F3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0F4293D-4851-803F-5086-4AF453EEF01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0A34434-F55C-4770-312C-AEC90AE65F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2BC9F3A-A969-7164-1A01-44C796EE631E}"/>
              </a:ext>
            </a:extLst>
          </p:cNvPr>
          <p:cNvSpPr>
            <a:spLocks noGrp="1"/>
          </p:cNvSpPr>
          <p:nvPr>
            <p:ph type="dt" sz="half" idx="10"/>
          </p:nvPr>
        </p:nvSpPr>
        <p:spPr/>
        <p:txBody>
          <a:bodyPr/>
          <a:lstStyle/>
          <a:p>
            <a:fld id="{9BC8F462-C855-4D99-A126-0D564291AF10}" type="datetimeFigureOut">
              <a:rPr lang="en-IN" smtClean="0"/>
              <a:t>12-05-2026</a:t>
            </a:fld>
            <a:endParaRPr lang="en-IN"/>
          </a:p>
        </p:txBody>
      </p:sp>
      <p:sp>
        <p:nvSpPr>
          <p:cNvPr id="6" name="Footer Placeholder 5">
            <a:extLst>
              <a:ext uri="{FF2B5EF4-FFF2-40B4-BE49-F238E27FC236}">
                <a16:creationId xmlns:a16="http://schemas.microsoft.com/office/drawing/2014/main" id="{CA04EC06-C4A2-46E9-C5E5-1DD63C819C7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A2CA7E7-43E0-DE08-8E34-CC123B5FF10F}"/>
              </a:ext>
            </a:extLst>
          </p:cNvPr>
          <p:cNvSpPr>
            <a:spLocks noGrp="1"/>
          </p:cNvSpPr>
          <p:nvPr>
            <p:ph type="sldNum" sz="quarter" idx="12"/>
          </p:nvPr>
        </p:nvSpPr>
        <p:spPr/>
        <p:txBody>
          <a:bodyPr/>
          <a:lstStyle/>
          <a:p>
            <a:fld id="{BC48E330-5323-42B9-B8B5-1C1F3AF38D40}" type="slidenum">
              <a:rPr lang="en-IN" smtClean="0"/>
              <a:t>‹#›</a:t>
            </a:fld>
            <a:endParaRPr lang="en-IN"/>
          </a:p>
        </p:txBody>
      </p:sp>
    </p:spTree>
    <p:extLst>
      <p:ext uri="{BB962C8B-B14F-4D97-AF65-F5344CB8AC3E}">
        <p14:creationId xmlns:p14="http://schemas.microsoft.com/office/powerpoint/2010/main" val="14737200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BB791-265D-C661-1BB5-3D7AB12C81A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8EE21C8-45FA-BBB0-B61A-7210259158B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3F9D06E-177C-720E-B633-895FC9F6E20E}"/>
              </a:ext>
            </a:extLst>
          </p:cNvPr>
          <p:cNvSpPr>
            <a:spLocks noGrp="1"/>
          </p:cNvSpPr>
          <p:nvPr>
            <p:ph type="dt" sz="half" idx="10"/>
          </p:nvPr>
        </p:nvSpPr>
        <p:spPr/>
        <p:txBody>
          <a:bodyPr/>
          <a:lstStyle/>
          <a:p>
            <a:fld id="{9BC8F462-C855-4D99-A126-0D564291AF10}" type="datetimeFigureOut">
              <a:rPr lang="en-IN" smtClean="0"/>
              <a:t>12-05-2026</a:t>
            </a:fld>
            <a:endParaRPr lang="en-IN"/>
          </a:p>
        </p:txBody>
      </p:sp>
      <p:sp>
        <p:nvSpPr>
          <p:cNvPr id="5" name="Footer Placeholder 4">
            <a:extLst>
              <a:ext uri="{FF2B5EF4-FFF2-40B4-BE49-F238E27FC236}">
                <a16:creationId xmlns:a16="http://schemas.microsoft.com/office/drawing/2014/main" id="{6362593C-C71D-4CBD-67B8-D5A44A50A09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080E571-47F4-489B-FA2A-B5FEB484F5EA}"/>
              </a:ext>
            </a:extLst>
          </p:cNvPr>
          <p:cNvSpPr>
            <a:spLocks noGrp="1"/>
          </p:cNvSpPr>
          <p:nvPr>
            <p:ph type="sldNum" sz="quarter" idx="12"/>
          </p:nvPr>
        </p:nvSpPr>
        <p:spPr/>
        <p:txBody>
          <a:bodyPr/>
          <a:lstStyle/>
          <a:p>
            <a:fld id="{BC48E330-5323-42B9-B8B5-1C1F3AF38D40}" type="slidenum">
              <a:rPr lang="en-IN" smtClean="0"/>
              <a:t>‹#›</a:t>
            </a:fld>
            <a:endParaRPr lang="en-IN"/>
          </a:p>
        </p:txBody>
      </p:sp>
    </p:spTree>
    <p:extLst>
      <p:ext uri="{BB962C8B-B14F-4D97-AF65-F5344CB8AC3E}">
        <p14:creationId xmlns:p14="http://schemas.microsoft.com/office/powerpoint/2010/main" val="13236046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D4FE02E-561B-0C0F-60FC-11A10D9811A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43EB94F-5383-B6A5-DCAF-B2EA6EE5AA2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3BA6ED5-6170-1D29-92A9-ABF2C5B5230C}"/>
              </a:ext>
            </a:extLst>
          </p:cNvPr>
          <p:cNvSpPr>
            <a:spLocks noGrp="1"/>
          </p:cNvSpPr>
          <p:nvPr>
            <p:ph type="dt" sz="half" idx="10"/>
          </p:nvPr>
        </p:nvSpPr>
        <p:spPr/>
        <p:txBody>
          <a:bodyPr/>
          <a:lstStyle/>
          <a:p>
            <a:fld id="{9BC8F462-C855-4D99-A126-0D564291AF10}" type="datetimeFigureOut">
              <a:rPr lang="en-IN" smtClean="0"/>
              <a:t>12-05-2026</a:t>
            </a:fld>
            <a:endParaRPr lang="en-IN"/>
          </a:p>
        </p:txBody>
      </p:sp>
      <p:sp>
        <p:nvSpPr>
          <p:cNvPr id="5" name="Footer Placeholder 4">
            <a:extLst>
              <a:ext uri="{FF2B5EF4-FFF2-40B4-BE49-F238E27FC236}">
                <a16:creationId xmlns:a16="http://schemas.microsoft.com/office/drawing/2014/main" id="{3F7936E5-C11E-0504-B33E-DA0CA97B5E7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24C5298-74D3-3343-DE5C-0C01749F8A7F}"/>
              </a:ext>
            </a:extLst>
          </p:cNvPr>
          <p:cNvSpPr>
            <a:spLocks noGrp="1"/>
          </p:cNvSpPr>
          <p:nvPr>
            <p:ph type="sldNum" sz="quarter" idx="12"/>
          </p:nvPr>
        </p:nvSpPr>
        <p:spPr/>
        <p:txBody>
          <a:bodyPr/>
          <a:lstStyle/>
          <a:p>
            <a:fld id="{BC48E330-5323-42B9-B8B5-1C1F3AF38D40}" type="slidenum">
              <a:rPr lang="en-IN" smtClean="0"/>
              <a:t>‹#›</a:t>
            </a:fld>
            <a:endParaRPr lang="en-IN"/>
          </a:p>
        </p:txBody>
      </p:sp>
    </p:spTree>
    <p:extLst>
      <p:ext uri="{BB962C8B-B14F-4D97-AF65-F5344CB8AC3E}">
        <p14:creationId xmlns:p14="http://schemas.microsoft.com/office/powerpoint/2010/main" val="25130540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8C7D13A-B48F-D2C2-9E78-68646FFA8B4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518BE23-F779-6758-8629-DEEEC471707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549C626-793A-A817-9126-42ECA52C55C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BC8F462-C855-4D99-A126-0D564291AF10}" type="datetimeFigureOut">
              <a:rPr lang="en-IN" smtClean="0"/>
              <a:t>12-05-2026</a:t>
            </a:fld>
            <a:endParaRPr lang="en-IN"/>
          </a:p>
        </p:txBody>
      </p:sp>
      <p:sp>
        <p:nvSpPr>
          <p:cNvPr id="5" name="Footer Placeholder 4">
            <a:extLst>
              <a:ext uri="{FF2B5EF4-FFF2-40B4-BE49-F238E27FC236}">
                <a16:creationId xmlns:a16="http://schemas.microsoft.com/office/drawing/2014/main" id="{FE4A0F34-6BE1-AE3E-640C-D468ACA83BC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65684B8-6E7F-7F2C-A4C9-9EE3E4B703A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C48E330-5323-42B9-B8B5-1C1F3AF38D40}" type="slidenum">
              <a:rPr lang="en-IN" smtClean="0"/>
              <a:t>‹#›</a:t>
            </a:fld>
            <a:endParaRPr lang="en-IN"/>
          </a:p>
        </p:txBody>
      </p:sp>
    </p:spTree>
    <p:extLst>
      <p:ext uri="{BB962C8B-B14F-4D97-AF65-F5344CB8AC3E}">
        <p14:creationId xmlns:p14="http://schemas.microsoft.com/office/powerpoint/2010/main" val="5135896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DCEE88-AB52-3A53-EFDB-D05BA58FB76C}"/>
              </a:ext>
            </a:extLst>
          </p:cNvPr>
          <p:cNvSpPr>
            <a:spLocks noGrp="1"/>
          </p:cNvSpPr>
          <p:nvPr>
            <p:ph type="ctrTitle"/>
          </p:nvPr>
        </p:nvSpPr>
        <p:spPr>
          <a:xfrm>
            <a:off x="2605549" y="450057"/>
            <a:ext cx="9144000" cy="1220684"/>
          </a:xfrm>
        </p:spPr>
        <p:txBody>
          <a:bodyPr>
            <a:noAutofit/>
          </a:bodyPr>
          <a:lstStyle/>
          <a:p>
            <a:r>
              <a:rPr lang="en-US" altLang="en-US" sz="3200" b="1" dirty="0">
                <a:solidFill>
                  <a:srgbClr val="FF0000"/>
                </a:solidFill>
                <a:latin typeface="Arial" panose="020B0604020202020204" pitchFamily="34" charset="0"/>
                <a:cs typeface="Arial" panose="020B0604020202020204" pitchFamily="34" charset="0"/>
              </a:rPr>
              <a:t>K J COLLEGE OF ENGINEERING AND MANAGEMENT RESEARCH, PUNE</a:t>
            </a:r>
            <a:endParaRPr lang="en-IN" sz="3200" b="1" dirty="0">
              <a:solidFill>
                <a:srgbClr val="FF0000"/>
              </a:solidFill>
              <a:latin typeface="Arial" panose="020B0604020202020204" pitchFamily="34" charset="0"/>
              <a:cs typeface="Arial" panose="020B0604020202020204" pitchFamily="34" charset="0"/>
            </a:endParaRPr>
          </a:p>
        </p:txBody>
      </p:sp>
      <p:sp>
        <p:nvSpPr>
          <p:cNvPr id="3" name="Subtitle 2">
            <a:extLst>
              <a:ext uri="{FF2B5EF4-FFF2-40B4-BE49-F238E27FC236}">
                <a16:creationId xmlns:a16="http://schemas.microsoft.com/office/drawing/2014/main" id="{7A834101-FEEE-3087-A7C6-73E95302D9E7}"/>
              </a:ext>
            </a:extLst>
          </p:cNvPr>
          <p:cNvSpPr>
            <a:spLocks noGrp="1"/>
          </p:cNvSpPr>
          <p:nvPr>
            <p:ph type="subTitle" idx="1"/>
          </p:nvPr>
        </p:nvSpPr>
        <p:spPr>
          <a:xfrm>
            <a:off x="1765427" y="4446640"/>
            <a:ext cx="9144000" cy="1655762"/>
          </a:xfrm>
        </p:spPr>
        <p:txBody>
          <a:bodyPr>
            <a:normAutofit/>
          </a:bodyPr>
          <a:lstStyle/>
          <a:p>
            <a:r>
              <a:rPr lang="en-US" sz="3200" dirty="0"/>
              <a:t>By:</a:t>
            </a:r>
          </a:p>
          <a:p>
            <a:r>
              <a:rPr lang="en-US" sz="3200" dirty="0"/>
              <a:t>Akshada Nandkumar Kambale </a:t>
            </a:r>
            <a:endParaRPr lang="en-IN" sz="3200" dirty="0"/>
          </a:p>
        </p:txBody>
      </p:sp>
      <p:pic>
        <p:nvPicPr>
          <p:cNvPr id="5" name="Picture 8" descr="trinity logoo.jpg">
            <a:extLst>
              <a:ext uri="{FF2B5EF4-FFF2-40B4-BE49-F238E27FC236}">
                <a16:creationId xmlns:a16="http://schemas.microsoft.com/office/drawing/2014/main" id="{03077B8C-F3FB-7606-4075-769BFA6D587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28661" y="232518"/>
            <a:ext cx="1857223" cy="1655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E135E69C-22A0-8AD9-38EB-679CC9C56A8C}"/>
              </a:ext>
            </a:extLst>
          </p:cNvPr>
          <p:cNvSpPr txBox="1"/>
          <p:nvPr/>
        </p:nvSpPr>
        <p:spPr>
          <a:xfrm>
            <a:off x="2585884" y="2716160"/>
            <a:ext cx="8169532" cy="1077218"/>
          </a:xfrm>
          <a:prstGeom prst="rect">
            <a:avLst/>
          </a:prstGeom>
          <a:noFill/>
        </p:spPr>
        <p:txBody>
          <a:bodyPr wrap="square" rtlCol="0">
            <a:spAutoFit/>
          </a:bodyPr>
          <a:lstStyle/>
          <a:p>
            <a:r>
              <a:rPr lang="en-US" sz="3200" dirty="0">
                <a:latin typeface="Arial" panose="020B0604020202020204" pitchFamily="34" charset="0"/>
                <a:cs typeface="Arial" panose="020B0604020202020204" pitchFamily="34" charset="0"/>
              </a:rPr>
              <a:t>Project On Soil Moisture Monitor System</a:t>
            </a:r>
          </a:p>
          <a:p>
            <a:pPr algn="ctr"/>
            <a:r>
              <a:rPr lang="en-IN" sz="3200" dirty="0">
                <a:solidFill>
                  <a:srgbClr val="FF0000"/>
                </a:solidFill>
                <a:latin typeface="Arial" panose="020B0604020202020204" pitchFamily="34" charset="0"/>
                <a:cs typeface="Arial" panose="020B0604020202020204" pitchFamily="34" charset="0"/>
              </a:rPr>
              <a:t>Environment Studies </a:t>
            </a:r>
          </a:p>
        </p:txBody>
      </p:sp>
    </p:spTree>
    <p:extLst>
      <p:ext uri="{BB962C8B-B14F-4D97-AF65-F5344CB8AC3E}">
        <p14:creationId xmlns:p14="http://schemas.microsoft.com/office/powerpoint/2010/main" val="3263530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45EED0-B9A3-5FEE-937B-3372AC2B97D8}"/>
              </a:ext>
            </a:extLst>
          </p:cNvPr>
          <p:cNvSpPr>
            <a:spLocks noGrp="1"/>
          </p:cNvSpPr>
          <p:nvPr>
            <p:ph type="title"/>
          </p:nvPr>
        </p:nvSpPr>
        <p:spPr>
          <a:xfrm>
            <a:off x="838200" y="365125"/>
            <a:ext cx="10515600" cy="991727"/>
          </a:xfrm>
        </p:spPr>
        <p:txBody>
          <a:bodyPr>
            <a:normAutofit fontScale="90000"/>
          </a:bodyPr>
          <a:lstStyle/>
          <a:p>
            <a:pPr algn="ctr"/>
            <a:r>
              <a:rPr lang="en-US" altLang="en-US" sz="3200" b="1" dirty="0">
                <a:solidFill>
                  <a:srgbClr val="FF0000"/>
                </a:solidFill>
                <a:latin typeface="Arial Narrow" panose="020B0606020202030204" pitchFamily="34" charset="0"/>
                <a:ea typeface="Calibri" panose="020F0502020204030204" pitchFamily="34" charset="0"/>
                <a:cs typeface="Calibri" panose="020F0502020204030204" pitchFamily="34" charset="0"/>
              </a:rPr>
              <a:t>Introduction</a:t>
            </a:r>
            <a:br>
              <a:rPr lang="en-US" altLang="en-US" sz="3600" dirty="0">
                <a:solidFill>
                  <a:srgbClr val="FF0000"/>
                </a:solidFill>
                <a:latin typeface="Agency FB" panose="020B0503020202020204" pitchFamily="34" charset="0"/>
              </a:rPr>
            </a:br>
            <a:endParaRPr lang="en-IN" sz="3600" dirty="0">
              <a:solidFill>
                <a:srgbClr val="FF0000"/>
              </a:solidFill>
            </a:endParaRPr>
          </a:p>
        </p:txBody>
      </p:sp>
      <p:sp>
        <p:nvSpPr>
          <p:cNvPr id="3" name="Content Placeholder 2">
            <a:extLst>
              <a:ext uri="{FF2B5EF4-FFF2-40B4-BE49-F238E27FC236}">
                <a16:creationId xmlns:a16="http://schemas.microsoft.com/office/drawing/2014/main" id="{A439381E-2515-C27A-4082-F5DBF602CE62}"/>
              </a:ext>
            </a:extLst>
          </p:cNvPr>
          <p:cNvSpPr>
            <a:spLocks noGrp="1"/>
          </p:cNvSpPr>
          <p:nvPr>
            <p:ph idx="1"/>
          </p:nvPr>
        </p:nvSpPr>
        <p:spPr>
          <a:xfrm>
            <a:off x="769374" y="1356852"/>
            <a:ext cx="11058832" cy="4869273"/>
          </a:xfrm>
        </p:spPr>
        <p:txBody>
          <a:bodyPr>
            <a:normAutofit fontScale="92500" lnSpcReduction="10000"/>
          </a:bodyPr>
          <a:lstStyle/>
          <a:p>
            <a:r>
              <a:rPr lang="en-US" dirty="0">
                <a:latin typeface="Arial Narrow" panose="020B0606020202030204" pitchFamily="34" charset="0"/>
                <a:cs typeface="Arial" panose="020B0604020202020204" pitchFamily="34" charset="0"/>
              </a:rPr>
              <a:t>Soil moisture monitoring has become an important part of modern agriculture and environmental studies due to increasing water scarcity and the need for efficient irrigation systems. Farmers often face difficulties in identifying the exact water requirement of soil, which can lead to overwatering or underwatering of crops. This not only affects plant growth but also results in wastage of water and reduced agricultural productivity.</a:t>
            </a:r>
          </a:p>
          <a:p>
            <a:r>
              <a:rPr lang="en-US" dirty="0">
                <a:latin typeface="Arial Narrow" panose="020B0606020202030204" pitchFamily="34" charset="0"/>
                <a:cs typeface="Arial" panose="020B0604020202020204" pitchFamily="34" charset="0"/>
              </a:rPr>
              <a:t>To solve these problems, there is a need for a smart and efficient system that can monitor soil moisture levels in real time and help in proper water management. With the advancement of IoT and embedded systems, intelligent solutions can now be developed for sustainable agriculture and environmental protection.</a:t>
            </a:r>
          </a:p>
          <a:p>
            <a:r>
              <a:rPr lang="en-US" dirty="0">
                <a:latin typeface="Arial Narrow" panose="020B0606020202030204" pitchFamily="34" charset="0"/>
                <a:cs typeface="Arial" panose="020B0604020202020204" pitchFamily="34" charset="0"/>
              </a:rPr>
              <a:t>This project introduces a Soil Moisture Monitoring System that uses sensor-based technology to detect the moisture content present in soil and provide accurate monitoring data. The system helps in efficient irrigation management, conserves water, improves crop health, and supports smart farming practices.</a:t>
            </a:r>
          </a:p>
          <a:p>
            <a:endParaRPr lang="en-IN" dirty="0">
              <a:latin typeface="Arial Narrow" panose="020B0606020202030204" pitchFamily="34" charset="0"/>
            </a:endParaRPr>
          </a:p>
        </p:txBody>
      </p:sp>
    </p:spTree>
    <p:extLst>
      <p:ext uri="{BB962C8B-B14F-4D97-AF65-F5344CB8AC3E}">
        <p14:creationId xmlns:p14="http://schemas.microsoft.com/office/powerpoint/2010/main" val="27989935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784BC4-A5FF-8CFF-CF56-33814E729558}"/>
              </a:ext>
            </a:extLst>
          </p:cNvPr>
          <p:cNvSpPr>
            <a:spLocks noGrp="1"/>
          </p:cNvSpPr>
          <p:nvPr>
            <p:ph type="title"/>
          </p:nvPr>
        </p:nvSpPr>
        <p:spPr>
          <a:xfrm>
            <a:off x="749710" y="494224"/>
            <a:ext cx="10515600" cy="1011391"/>
          </a:xfrm>
        </p:spPr>
        <p:txBody>
          <a:bodyPr>
            <a:noAutofit/>
          </a:bodyPr>
          <a:lstStyle/>
          <a:p>
            <a:pPr marL="0" marR="0" lvl="0" indent="0" algn="ctr" defTabSz="914400" rtl="0" eaLnBrk="0" fontAlgn="base" latinLnBrk="0" hangingPunct="0">
              <a:lnSpc>
                <a:spcPct val="100000"/>
              </a:lnSpc>
              <a:spcBef>
                <a:spcPct val="0"/>
              </a:spcBef>
              <a:spcAft>
                <a:spcPct val="0"/>
              </a:spcAft>
              <a:tabLst/>
              <a:defRPr/>
            </a:pPr>
            <a:r>
              <a:rPr kumimoji="0" lang="en-US" altLang="en-US" sz="3200" b="1" i="0" u="none" strike="noStrike" kern="1200" cap="none" spc="0" normalizeH="0" baseline="0" noProof="0" dirty="0">
                <a:ln>
                  <a:noFill/>
                </a:ln>
                <a:solidFill>
                  <a:srgbClr val="FF0000"/>
                </a:solidFill>
                <a:effectLst/>
                <a:uLnTx/>
                <a:uFillTx/>
                <a:latin typeface="Arial Narrow" panose="020B0606020202030204" pitchFamily="34" charset="0"/>
                <a:ea typeface="Calibri" panose="020F0502020204030204" pitchFamily="34" charset="0"/>
                <a:cs typeface="Calibri" panose="020F0502020204030204" pitchFamily="34" charset="0"/>
              </a:rPr>
              <a:t>Literature Survey</a:t>
            </a:r>
            <a:br>
              <a:rPr kumimoji="0" lang="en-US" altLang="en-US" sz="3600" b="0" i="0" u="none" strike="noStrike" kern="1200" cap="none" spc="0" normalizeH="0" baseline="0" noProof="0" dirty="0">
                <a:ln>
                  <a:noFill/>
                </a:ln>
                <a:solidFill>
                  <a:srgbClr val="000000"/>
                </a:solidFill>
                <a:effectLst/>
                <a:uLnTx/>
                <a:uFillTx/>
                <a:latin typeface="Agency FB" panose="020B0503020202020204" pitchFamily="34" charset="0"/>
                <a:ea typeface="+mn-ea"/>
                <a:cs typeface="+mn-cs"/>
              </a:rPr>
            </a:br>
            <a:endParaRPr lang="en-IN" dirty="0"/>
          </a:p>
        </p:txBody>
      </p:sp>
      <p:sp>
        <p:nvSpPr>
          <p:cNvPr id="3" name="Content Placeholder 2">
            <a:extLst>
              <a:ext uri="{FF2B5EF4-FFF2-40B4-BE49-F238E27FC236}">
                <a16:creationId xmlns:a16="http://schemas.microsoft.com/office/drawing/2014/main" id="{D548DA47-3375-4E24-4906-D59DA5F4FB44}"/>
              </a:ext>
            </a:extLst>
          </p:cNvPr>
          <p:cNvSpPr>
            <a:spLocks noGrp="1"/>
          </p:cNvSpPr>
          <p:nvPr>
            <p:ph idx="1"/>
          </p:nvPr>
        </p:nvSpPr>
        <p:spPr>
          <a:xfrm>
            <a:off x="749710" y="1376516"/>
            <a:ext cx="10515600" cy="4987260"/>
          </a:xfrm>
        </p:spPr>
        <p:txBody>
          <a:bodyPr>
            <a:normAutofit fontScale="92500" lnSpcReduction="10000"/>
          </a:bodyPr>
          <a:lstStyle/>
          <a:p>
            <a:r>
              <a:rPr lang="en-US" dirty="0">
                <a:latin typeface="Arial Narrow" panose="020B0606020202030204" pitchFamily="34" charset="0"/>
              </a:rPr>
              <a:t>Several existing agricultural monitoring systems use sensor-based technology to measure soil moisture levels and improve irrigation efficiency.</a:t>
            </a:r>
          </a:p>
          <a:p>
            <a:r>
              <a:rPr lang="en-US" dirty="0">
                <a:latin typeface="Arial Narrow" panose="020B0606020202030204" pitchFamily="34" charset="0"/>
              </a:rPr>
              <a:t>Research shows that soil moisture sensors are widely used for accurate and low-cost measurement of water content present in soil.</a:t>
            </a:r>
          </a:p>
          <a:p>
            <a:r>
              <a:rPr lang="en-US" dirty="0">
                <a:latin typeface="Arial Narrow" panose="020B0606020202030204" pitchFamily="34" charset="0"/>
              </a:rPr>
              <a:t>Many modern soil monitoring systems are based on IoT technology, enabling real-time monitoring, automatic irrigation control, and remote data access.</a:t>
            </a:r>
          </a:p>
          <a:p>
            <a:r>
              <a:rPr lang="en-US" dirty="0">
                <a:latin typeface="Arial Narrow" panose="020B0606020202030204" pitchFamily="34" charset="0"/>
              </a:rPr>
              <a:t>Some advanced systems also include temperature and humidity sensors to provide better analysis of environmental conditions for crop growth.</a:t>
            </a:r>
          </a:p>
          <a:p>
            <a:r>
              <a:rPr lang="en-US" dirty="0">
                <a:latin typeface="Arial Narrow" panose="020B0606020202030204" pitchFamily="34" charset="0"/>
              </a:rPr>
              <a:t>However, many existing solutions are expensive, complex, or difficult for small-scale farmers to implement on a large scale.</a:t>
            </a:r>
          </a:p>
          <a:p>
            <a:r>
              <a:rPr lang="en-US" dirty="0">
                <a:latin typeface="Arial Narrow" panose="020B0606020202030204" pitchFamily="34" charset="0"/>
              </a:rPr>
              <a:t>There is a need for a low-cost, efficient, and easy-to-use Soil Moisture Monitoring System, which this project aims to develop for smart and sustainable agriculture.</a:t>
            </a:r>
          </a:p>
          <a:p>
            <a:endParaRPr lang="en-IN" dirty="0"/>
          </a:p>
        </p:txBody>
      </p:sp>
    </p:spTree>
    <p:extLst>
      <p:ext uri="{BB962C8B-B14F-4D97-AF65-F5344CB8AC3E}">
        <p14:creationId xmlns:p14="http://schemas.microsoft.com/office/powerpoint/2010/main" val="19232722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548745-AC33-E80A-F888-B6EF7D51DFB7}"/>
              </a:ext>
            </a:extLst>
          </p:cNvPr>
          <p:cNvSpPr>
            <a:spLocks noGrp="1"/>
          </p:cNvSpPr>
          <p:nvPr>
            <p:ph type="title"/>
          </p:nvPr>
        </p:nvSpPr>
        <p:spPr>
          <a:xfrm>
            <a:off x="838200" y="681037"/>
            <a:ext cx="10515600" cy="755752"/>
          </a:xfrm>
        </p:spPr>
        <p:txBody>
          <a:bodyPr>
            <a:noAutofit/>
          </a:bodyPr>
          <a:lstStyle/>
          <a:p>
            <a:pPr marL="0" marR="0" lvl="0" indent="0" algn="ctr" defTabSz="914400" rtl="0" eaLnBrk="0" fontAlgn="base" latinLnBrk="0" hangingPunct="0">
              <a:lnSpc>
                <a:spcPct val="100000"/>
              </a:lnSpc>
              <a:spcBef>
                <a:spcPct val="0"/>
              </a:spcBef>
              <a:spcAft>
                <a:spcPct val="0"/>
              </a:spcAft>
              <a:tabLst/>
              <a:defRPr/>
            </a:pPr>
            <a:r>
              <a:rPr kumimoji="0" lang="en-US" altLang="en-US" sz="3200" b="1" i="0" u="none" strike="noStrike" kern="1200" cap="none" spc="0" normalizeH="0" baseline="0" noProof="0" dirty="0">
                <a:ln>
                  <a:noFill/>
                </a:ln>
                <a:solidFill>
                  <a:srgbClr val="FF0000"/>
                </a:solidFill>
                <a:effectLst/>
                <a:uLnTx/>
                <a:uFillTx/>
                <a:latin typeface="Arial Narrow" panose="020B0606020202030204" pitchFamily="34" charset="0"/>
                <a:ea typeface="Calibri" panose="020F0502020204030204" pitchFamily="34" charset="0"/>
                <a:cs typeface="Calibri" panose="020F0502020204030204" pitchFamily="34" charset="0"/>
              </a:rPr>
              <a:t>Problem Definition and Objectives</a:t>
            </a:r>
            <a:br>
              <a:rPr kumimoji="0" lang="en-US" altLang="en-US" b="1" i="0" u="none" strike="noStrike" kern="1200" cap="none" spc="0" normalizeH="0" baseline="0" noProof="0" dirty="0">
                <a:ln>
                  <a:noFill/>
                </a:ln>
                <a:solidFill>
                  <a:srgbClr val="000000"/>
                </a:solidFill>
                <a:effectLst/>
                <a:uLnTx/>
                <a:uFillTx/>
                <a:latin typeface="Arial Narrow" panose="020B0606020202030204" pitchFamily="34" charset="0"/>
                <a:ea typeface="+mn-ea"/>
                <a:cs typeface="+mn-cs"/>
              </a:rPr>
            </a:br>
            <a:endParaRPr lang="en-IN" sz="5400" b="1" dirty="0">
              <a:latin typeface="Arial Narrow" panose="020B0606020202030204" pitchFamily="34" charset="0"/>
            </a:endParaRPr>
          </a:p>
        </p:txBody>
      </p:sp>
      <p:sp>
        <p:nvSpPr>
          <p:cNvPr id="3" name="Content Placeholder 2">
            <a:extLst>
              <a:ext uri="{FF2B5EF4-FFF2-40B4-BE49-F238E27FC236}">
                <a16:creationId xmlns:a16="http://schemas.microsoft.com/office/drawing/2014/main" id="{C0A9FB69-E927-B239-4FC0-A145CD13F28A}"/>
              </a:ext>
            </a:extLst>
          </p:cNvPr>
          <p:cNvSpPr>
            <a:spLocks noGrp="1"/>
          </p:cNvSpPr>
          <p:nvPr>
            <p:ph idx="1"/>
          </p:nvPr>
        </p:nvSpPr>
        <p:spPr>
          <a:xfrm>
            <a:off x="838200" y="1170039"/>
            <a:ext cx="4549877" cy="5006924"/>
          </a:xfrm>
        </p:spPr>
        <p:txBody>
          <a:bodyPr>
            <a:normAutofit fontScale="92500" lnSpcReduction="10000"/>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6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Problem Definition :</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a:p>
            <a:r>
              <a:rPr lang="en-US" sz="2000" dirty="0"/>
              <a:t>Improper irrigation and lack of soil monitoring can lead to poor crop growth and low agricultural productivity. </a:t>
            </a:r>
          </a:p>
          <a:p>
            <a:r>
              <a:rPr lang="en-US" sz="2000" dirty="0"/>
              <a:t>Overwatering and underwatering of crops result in wastage of water and damage to plants. </a:t>
            </a:r>
          </a:p>
          <a:p>
            <a:r>
              <a:rPr lang="en-US" sz="2000" dirty="0"/>
              <a:t>Farmers often do not have a real-time system to monitor soil moisture levels accurately. </a:t>
            </a:r>
          </a:p>
          <a:p>
            <a:r>
              <a:rPr lang="en-US" sz="2000" dirty="0"/>
              <a:t>Manual checking of soil conditions is time-consuming and inefficient. </a:t>
            </a:r>
          </a:p>
          <a:p>
            <a:r>
              <a:rPr lang="en-US" sz="2000" dirty="0"/>
              <a:t>There is a need for an automatic and efficient soil moisture monitoring system to support smart farming and water conservation. </a:t>
            </a:r>
          </a:p>
          <a:p>
            <a:pPr marL="514350" indent="-514350">
              <a:buFont typeface="+mj-lt"/>
              <a:buAutoNum type="arabicPeriod"/>
            </a:pPr>
            <a:endParaRPr lang="en-IN" sz="2000" dirty="0"/>
          </a:p>
        </p:txBody>
      </p:sp>
      <p:sp>
        <p:nvSpPr>
          <p:cNvPr id="4" name="TextBox 3">
            <a:extLst>
              <a:ext uri="{FF2B5EF4-FFF2-40B4-BE49-F238E27FC236}">
                <a16:creationId xmlns:a16="http://schemas.microsoft.com/office/drawing/2014/main" id="{32C11082-5CDD-040D-7C84-2F57E37BED13}"/>
              </a:ext>
            </a:extLst>
          </p:cNvPr>
          <p:cNvSpPr txBox="1"/>
          <p:nvPr/>
        </p:nvSpPr>
        <p:spPr>
          <a:xfrm>
            <a:off x="5722374" y="1238866"/>
            <a:ext cx="5631426" cy="4370427"/>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Objectives :</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a:p>
            <a:pPr marL="285750" indent="-285750">
              <a:buFont typeface="Arial" panose="020B0604020202020204" pitchFamily="34" charset="0"/>
              <a:buChar char="•"/>
            </a:pPr>
            <a:r>
              <a:rPr lang="en-US" sz="2000" dirty="0"/>
              <a:t>Develop a Soil Moisture Monitoring System </a:t>
            </a:r>
          </a:p>
          <a:p>
            <a:pPr marL="285750" indent="-285750">
              <a:buFont typeface="Arial" panose="020B0604020202020204" pitchFamily="34" charset="0"/>
              <a:buChar char="•"/>
            </a:pPr>
            <a:r>
              <a:rPr lang="en-US" sz="2000" dirty="0"/>
              <a:t>Detect soil moisture level accurately </a:t>
            </a:r>
          </a:p>
          <a:p>
            <a:pPr marL="285750" indent="-285750">
              <a:buFont typeface="Arial" panose="020B0604020202020204" pitchFamily="34" charset="0"/>
              <a:buChar char="•"/>
            </a:pPr>
            <a:r>
              <a:rPr lang="en-US" sz="2000" dirty="0"/>
              <a:t>Provide real-time monitoring of soil conditions </a:t>
            </a:r>
          </a:p>
          <a:p>
            <a:pPr marL="285750" indent="-285750">
              <a:buFont typeface="Arial" panose="020B0604020202020204" pitchFamily="34" charset="0"/>
              <a:buChar char="•"/>
            </a:pPr>
            <a:r>
              <a:rPr lang="en-US" sz="2000" dirty="0"/>
              <a:t>Alert users when soil becomes too dry or too wet </a:t>
            </a:r>
          </a:p>
          <a:p>
            <a:pPr marL="285750" indent="-285750">
              <a:buFont typeface="Arial" panose="020B0604020202020204" pitchFamily="34" charset="0"/>
              <a:buChar char="•"/>
            </a:pPr>
            <a:r>
              <a:rPr lang="en-US" sz="2000" dirty="0"/>
              <a:t>Create a low-cost and scalable solution for agriculture </a:t>
            </a:r>
          </a:p>
          <a:p>
            <a:pPr marL="285750" indent="-285750">
              <a:buFont typeface="Arial" panose="020B0604020202020204" pitchFamily="34" charset="0"/>
              <a:buChar char="•"/>
            </a:pPr>
            <a:r>
              <a:rPr lang="en-US" sz="2000" dirty="0"/>
              <a:t>Support smart farming and water conservation </a:t>
            </a:r>
          </a:p>
          <a:p>
            <a:pPr marL="285750" indent="-285750">
              <a:buFont typeface="Arial" panose="020B0604020202020204" pitchFamily="34" charset="0"/>
              <a:buChar char="•"/>
            </a:pPr>
            <a:r>
              <a:rPr lang="en-US" sz="2000" dirty="0"/>
              <a:t>Reduce water wastage through efficient irrigation management </a:t>
            </a:r>
          </a:p>
          <a:p>
            <a:pPr marL="285750" indent="-285750">
              <a:buFont typeface="Arial" panose="020B0604020202020204" pitchFamily="34" charset="0"/>
              <a:buChar char="•"/>
            </a:pPr>
            <a:r>
              <a:rPr lang="en-US" sz="2000" dirty="0"/>
              <a:t>Make the system simple, reliable, and time efficient </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defRPr/>
            </a:pPr>
            <a:endPar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6518181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43C67-2954-C6F1-3DDA-10EE2C11D78D}"/>
              </a:ext>
            </a:extLst>
          </p:cNvPr>
          <p:cNvSpPr>
            <a:spLocks noGrp="1"/>
          </p:cNvSpPr>
          <p:nvPr>
            <p:ph type="title"/>
          </p:nvPr>
        </p:nvSpPr>
        <p:spPr>
          <a:xfrm>
            <a:off x="2018070" y="877682"/>
            <a:ext cx="6683478" cy="775417"/>
          </a:xfrm>
        </p:spPr>
        <p:txBody>
          <a:bodyPr>
            <a:noAutofit/>
          </a:bodyPr>
          <a:lstStyle/>
          <a:p>
            <a:pPr marL="0" marR="0" lvl="0" indent="0" algn="ctr" defTabSz="914400" rtl="0" eaLnBrk="0" fontAlgn="base" latinLnBrk="0" hangingPunct="0">
              <a:lnSpc>
                <a:spcPct val="100000"/>
              </a:lnSpc>
              <a:spcBef>
                <a:spcPct val="0"/>
              </a:spcBef>
              <a:spcAft>
                <a:spcPct val="0"/>
              </a:spcAft>
              <a:tabLst/>
              <a:defRPr/>
            </a:pPr>
            <a:r>
              <a:rPr kumimoji="0" lang="en-US" altLang="en-US" sz="3200" b="1" i="0" u="none" strike="noStrike" kern="1200" cap="none" spc="0" normalizeH="0" baseline="0" noProof="0" dirty="0">
                <a:ln>
                  <a:noFill/>
                </a:ln>
                <a:solidFill>
                  <a:srgbClr val="FF0000"/>
                </a:solidFill>
                <a:effectLst/>
                <a:uLnTx/>
                <a:uFillTx/>
                <a:latin typeface="Arial Narrow" panose="020B0606020202030204" pitchFamily="34" charset="0"/>
                <a:ea typeface="Calibri" panose="020F0502020204030204" pitchFamily="34" charset="0"/>
                <a:cs typeface="Calibri" panose="020F0502020204030204" pitchFamily="34" charset="0"/>
              </a:rPr>
              <a:t>Block Diagram</a:t>
            </a:r>
            <a:br>
              <a:rPr kumimoji="0" lang="en-US" altLang="en-US" b="1" i="0" u="none" strike="noStrike" kern="1200" cap="none" spc="0" normalizeH="0" baseline="0" noProof="0" dirty="0">
                <a:ln>
                  <a:noFill/>
                </a:ln>
                <a:solidFill>
                  <a:srgbClr val="000000"/>
                </a:solidFill>
                <a:effectLst/>
                <a:uLnTx/>
                <a:uFillTx/>
                <a:latin typeface="Arial Narrow" panose="020B0606020202030204" pitchFamily="34" charset="0"/>
                <a:ea typeface="+mn-ea"/>
                <a:cs typeface="+mn-cs"/>
              </a:rPr>
            </a:br>
            <a:endParaRPr lang="en-IN" sz="5400" b="1" dirty="0">
              <a:latin typeface="Arial Narrow" panose="020B0606020202030204" pitchFamily="34" charset="0"/>
            </a:endParaRPr>
          </a:p>
        </p:txBody>
      </p:sp>
      <p:pic>
        <p:nvPicPr>
          <p:cNvPr id="7" name="Picture 6">
            <a:extLst>
              <a:ext uri="{FF2B5EF4-FFF2-40B4-BE49-F238E27FC236}">
                <a16:creationId xmlns:a16="http://schemas.microsoft.com/office/drawing/2014/main" id="{A1A7D703-2676-51E7-FEF3-0D0F17FEBD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26475" y="1806191"/>
            <a:ext cx="5094970" cy="4523809"/>
          </a:xfrm>
          <a:prstGeom prst="rect">
            <a:avLst/>
          </a:prstGeom>
        </p:spPr>
      </p:pic>
    </p:spTree>
    <p:extLst>
      <p:ext uri="{BB962C8B-B14F-4D97-AF65-F5344CB8AC3E}">
        <p14:creationId xmlns:p14="http://schemas.microsoft.com/office/powerpoint/2010/main" val="26695477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29855-C091-AA2A-8B8C-021B11471BAA}"/>
              </a:ext>
            </a:extLst>
          </p:cNvPr>
          <p:cNvSpPr>
            <a:spLocks noGrp="1"/>
          </p:cNvSpPr>
          <p:nvPr>
            <p:ph type="title"/>
          </p:nvPr>
        </p:nvSpPr>
        <p:spPr/>
        <p:txBody>
          <a:bodyPr/>
          <a:lstStyle/>
          <a:p>
            <a:pPr algn="ctr"/>
            <a:r>
              <a:rPr lang="en-US" altLang="en-US" sz="3200" b="1" dirty="0">
                <a:solidFill>
                  <a:srgbClr val="FF0000"/>
                </a:solidFill>
                <a:latin typeface="Arial Narrow" panose="020B0606020202030204" pitchFamily="34" charset="0"/>
                <a:ea typeface="Calibri" panose="020F0502020204030204" pitchFamily="34" charset="0"/>
                <a:cs typeface="Calibri" panose="020F0502020204030204" pitchFamily="34" charset="0"/>
              </a:rPr>
              <a:t>Circuit Diagram</a:t>
            </a:r>
            <a:br>
              <a:rPr lang="en-US" altLang="en-US" dirty="0">
                <a:latin typeface="Agency FB" panose="020B0503020202020204" pitchFamily="34" charset="0"/>
              </a:rPr>
            </a:br>
            <a:endParaRPr lang="en-IN" dirty="0"/>
          </a:p>
        </p:txBody>
      </p:sp>
      <p:pic>
        <p:nvPicPr>
          <p:cNvPr id="11" name="Picture 10">
            <a:extLst>
              <a:ext uri="{FF2B5EF4-FFF2-40B4-BE49-F238E27FC236}">
                <a16:creationId xmlns:a16="http://schemas.microsoft.com/office/drawing/2014/main" id="{6B67A491-E4D2-D0A5-A926-43470BC84A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74013" y="1602658"/>
            <a:ext cx="8843973" cy="4219756"/>
          </a:xfrm>
          <a:prstGeom prst="rect">
            <a:avLst/>
          </a:prstGeom>
        </p:spPr>
      </p:pic>
    </p:spTree>
    <p:extLst>
      <p:ext uri="{BB962C8B-B14F-4D97-AF65-F5344CB8AC3E}">
        <p14:creationId xmlns:p14="http://schemas.microsoft.com/office/powerpoint/2010/main" val="4563613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3A23E-86F8-2B7C-AE61-F486240410D5}"/>
              </a:ext>
            </a:extLst>
          </p:cNvPr>
          <p:cNvSpPr>
            <a:spLocks noGrp="1"/>
          </p:cNvSpPr>
          <p:nvPr>
            <p:ph type="title"/>
          </p:nvPr>
        </p:nvSpPr>
        <p:spPr>
          <a:xfrm>
            <a:off x="435078" y="543386"/>
            <a:ext cx="10515600" cy="1001559"/>
          </a:xfrm>
        </p:spPr>
        <p:txBody>
          <a:bodyPr>
            <a:noAutofit/>
          </a:bodyPr>
          <a:lstStyle/>
          <a:p>
            <a:pPr marL="0" marR="0" lvl="0" indent="0" algn="ctr" defTabSz="914400" rtl="0" eaLnBrk="0" fontAlgn="base" latinLnBrk="0" hangingPunct="0">
              <a:lnSpc>
                <a:spcPct val="100000"/>
              </a:lnSpc>
              <a:spcBef>
                <a:spcPct val="0"/>
              </a:spcBef>
              <a:spcAft>
                <a:spcPct val="0"/>
              </a:spcAft>
              <a:tabLst/>
              <a:defRPr/>
            </a:pPr>
            <a:r>
              <a:rPr kumimoji="0" lang="en-US" altLang="en-US" sz="3200" b="1" i="0" u="none" strike="noStrike" kern="1200" cap="none" spc="0" normalizeH="0" baseline="0" noProof="0" dirty="0">
                <a:ln>
                  <a:noFill/>
                </a:ln>
                <a:solidFill>
                  <a:srgbClr val="FF0000"/>
                </a:solidFill>
                <a:effectLst/>
                <a:uLnTx/>
                <a:uFillTx/>
                <a:latin typeface="Arial Narrow" panose="020B0606020202030204" pitchFamily="34" charset="0"/>
                <a:ea typeface="Calibri" panose="020F0502020204030204" pitchFamily="34" charset="0"/>
                <a:cs typeface="Calibri" panose="020F0502020204030204" pitchFamily="34" charset="0"/>
              </a:rPr>
              <a:t>Implementation Details </a:t>
            </a:r>
            <a:br>
              <a:rPr kumimoji="0" lang="en-US" altLang="en-US" b="0" i="0" u="none" strike="noStrike" kern="1200" cap="none" spc="0" normalizeH="0" baseline="0" noProof="0" dirty="0">
                <a:ln>
                  <a:noFill/>
                </a:ln>
                <a:solidFill>
                  <a:srgbClr val="000000"/>
                </a:solidFill>
                <a:effectLst/>
                <a:uLnTx/>
                <a:uFillTx/>
                <a:latin typeface="Arial Narrow" panose="020B0606020202030204" pitchFamily="34" charset="0"/>
                <a:ea typeface="+mn-ea"/>
                <a:cs typeface="+mn-cs"/>
              </a:rPr>
            </a:br>
            <a:endParaRPr lang="en-IN" sz="5400" dirty="0">
              <a:latin typeface="Arial Narrow" panose="020B0606020202030204" pitchFamily="34" charset="0"/>
            </a:endParaRPr>
          </a:p>
        </p:txBody>
      </p:sp>
      <p:sp>
        <p:nvSpPr>
          <p:cNvPr id="3" name="Content Placeholder 2">
            <a:extLst>
              <a:ext uri="{FF2B5EF4-FFF2-40B4-BE49-F238E27FC236}">
                <a16:creationId xmlns:a16="http://schemas.microsoft.com/office/drawing/2014/main" id="{C00012DA-7566-F774-1020-F37FB6ACCCC6}"/>
              </a:ext>
            </a:extLst>
          </p:cNvPr>
          <p:cNvSpPr>
            <a:spLocks noGrp="1"/>
          </p:cNvSpPr>
          <p:nvPr>
            <p:ph idx="1"/>
          </p:nvPr>
        </p:nvSpPr>
        <p:spPr>
          <a:xfrm>
            <a:off x="838200" y="1347019"/>
            <a:ext cx="10515600" cy="4829944"/>
          </a:xfrm>
        </p:spPr>
        <p:txBody>
          <a:bodyPr>
            <a:normAutofit fontScale="92500" lnSpcReduction="20000"/>
          </a:bodyPr>
          <a:lstStyle/>
          <a:p>
            <a:r>
              <a:rPr lang="en-US" dirty="0"/>
              <a:t>The system is built using an ESP8266 microcontroller as the main processing unit.</a:t>
            </a:r>
          </a:p>
          <a:p>
            <a:r>
              <a:rPr lang="en-US" dirty="0"/>
              <a:t>A soil moisture sensor is placed in the soil to measure the moisture content present in the soil.</a:t>
            </a:r>
          </a:p>
          <a:p>
            <a:r>
              <a:rPr lang="en-US" dirty="0"/>
              <a:t>The sensor continuously detects the moisture level and sends the data to the ESP8266 controller for processing.</a:t>
            </a:r>
          </a:p>
          <a:p>
            <a:r>
              <a:rPr lang="en-US" dirty="0"/>
              <a:t>The ESP8266 processes this data and converts it into readable moisture values. The data is displayed locally on an LCD display for user visibility.</a:t>
            </a:r>
          </a:p>
          <a:p>
            <a:r>
              <a:rPr lang="en-US" dirty="0"/>
              <a:t>A buzzer alert system can be activated when the soil becomes too dry, indicating the need for watering.</a:t>
            </a:r>
          </a:p>
          <a:p>
            <a:r>
              <a:rPr lang="en-US" dirty="0"/>
              <a:t>The ESP8266 sends real-time soil moisture data to a web-based dashboard using internet connectivity.</a:t>
            </a:r>
          </a:p>
          <a:p>
            <a:r>
              <a:rPr lang="en-US" dirty="0"/>
              <a:t>The entire system is powered by a battery or power supply, making it portable, efficient, and easy to use in agricultural fields and gardens.</a:t>
            </a:r>
          </a:p>
          <a:p>
            <a:endParaRPr lang="en-IN" dirty="0"/>
          </a:p>
        </p:txBody>
      </p:sp>
    </p:spTree>
    <p:extLst>
      <p:ext uri="{BB962C8B-B14F-4D97-AF65-F5344CB8AC3E}">
        <p14:creationId xmlns:p14="http://schemas.microsoft.com/office/powerpoint/2010/main" val="21179171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4602F6-694B-4F36-5DB7-12D96C79FB43}"/>
              </a:ext>
            </a:extLst>
          </p:cNvPr>
          <p:cNvSpPr>
            <a:spLocks noGrp="1"/>
          </p:cNvSpPr>
          <p:nvPr>
            <p:ph type="title"/>
          </p:nvPr>
        </p:nvSpPr>
        <p:spPr>
          <a:xfrm>
            <a:off x="2389238" y="138983"/>
            <a:ext cx="6351639" cy="1325563"/>
          </a:xfrm>
        </p:spPr>
        <p:txBody>
          <a:bodyPr>
            <a:normAutofit/>
          </a:bodyPr>
          <a:lstStyle/>
          <a:p>
            <a:pPr algn="ctr"/>
            <a:r>
              <a:rPr kumimoji="0" lang="en-US" altLang="en-US" sz="3200" b="1" i="0" u="none" strike="noStrike" kern="1200" cap="none" spc="0" normalizeH="0" baseline="0" noProof="0" dirty="0">
                <a:ln>
                  <a:noFill/>
                </a:ln>
                <a:solidFill>
                  <a:srgbClr val="FF0000"/>
                </a:solidFill>
                <a:effectLst/>
                <a:uLnTx/>
                <a:uFillTx/>
                <a:latin typeface="Arial Narrow" panose="020B0606020202030204" pitchFamily="34" charset="0"/>
                <a:ea typeface="Calibri" panose="020F0502020204030204" pitchFamily="34" charset="0"/>
                <a:cs typeface="Calibri" panose="020F0502020204030204" pitchFamily="34" charset="0"/>
              </a:rPr>
              <a:t>Results</a:t>
            </a:r>
            <a:endParaRPr lang="en-IN" sz="4000" b="1" dirty="0">
              <a:solidFill>
                <a:srgbClr val="FF0000"/>
              </a:solidFill>
              <a:latin typeface="Arial Narrow" panose="020B0606020202030204" pitchFamily="34" charset="0"/>
            </a:endParaRPr>
          </a:p>
        </p:txBody>
      </p:sp>
      <p:sp>
        <p:nvSpPr>
          <p:cNvPr id="3" name="Content Placeholder 2">
            <a:extLst>
              <a:ext uri="{FF2B5EF4-FFF2-40B4-BE49-F238E27FC236}">
                <a16:creationId xmlns:a16="http://schemas.microsoft.com/office/drawing/2014/main" id="{67D8DB30-0451-E354-5F32-007B63FE2494}"/>
              </a:ext>
            </a:extLst>
          </p:cNvPr>
          <p:cNvSpPr>
            <a:spLocks noGrp="1"/>
          </p:cNvSpPr>
          <p:nvPr>
            <p:ph idx="1"/>
          </p:nvPr>
        </p:nvSpPr>
        <p:spPr>
          <a:xfrm>
            <a:off x="838200" y="1376516"/>
            <a:ext cx="10515600" cy="4800447"/>
          </a:xfrm>
        </p:spPr>
        <p:txBody>
          <a:bodyPr>
            <a:normAutofit fontScale="92500" lnSpcReduction="20000"/>
          </a:bodyPr>
          <a:lstStyle/>
          <a:p>
            <a:r>
              <a:rPr lang="en-US" dirty="0"/>
              <a:t>The system successfully detects soil moisture levels in real-time using a soil moisture sensor.</a:t>
            </a:r>
          </a:p>
          <a:p>
            <a:r>
              <a:rPr lang="en-US" dirty="0"/>
              <a:t> Accurate moisture readings are displayed on the LCD display.</a:t>
            </a:r>
          </a:p>
          <a:p>
            <a:r>
              <a:rPr lang="en-US" dirty="0"/>
              <a:t> The buzzer alert is triggered when the soil becomes too dry and requires watering.</a:t>
            </a:r>
          </a:p>
          <a:p>
            <a:r>
              <a:rPr lang="en-US" dirty="0"/>
              <a:t> Real-time soil moisture data is successfully updated on the web dashboard. </a:t>
            </a:r>
          </a:p>
          <a:p>
            <a:r>
              <a:rPr lang="en-US" dirty="0"/>
              <a:t>The system helps in efficient water management and prevents unnecessary water wastage. </a:t>
            </a:r>
          </a:p>
          <a:p>
            <a:r>
              <a:rPr lang="en-US" dirty="0"/>
              <a:t>The prototype demonstrates a cost-effective and efficient solution for smart agriculture. </a:t>
            </a:r>
          </a:p>
          <a:p>
            <a:r>
              <a:rPr lang="en-US" dirty="0"/>
              <a:t>Suitable for smart farming applications and scalable deployment in agricultural fields and gardens.</a:t>
            </a:r>
            <a:endParaRPr lang="en-IN" dirty="0"/>
          </a:p>
        </p:txBody>
      </p:sp>
    </p:spTree>
    <p:extLst>
      <p:ext uri="{BB962C8B-B14F-4D97-AF65-F5344CB8AC3E}">
        <p14:creationId xmlns:p14="http://schemas.microsoft.com/office/powerpoint/2010/main" val="10345414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925918-808B-6354-14EF-72882266C27C}"/>
              </a:ext>
            </a:extLst>
          </p:cNvPr>
          <p:cNvSpPr>
            <a:spLocks noGrp="1"/>
          </p:cNvSpPr>
          <p:nvPr>
            <p:ph type="title"/>
          </p:nvPr>
        </p:nvSpPr>
        <p:spPr>
          <a:xfrm>
            <a:off x="2910348" y="245037"/>
            <a:ext cx="5729749" cy="871999"/>
          </a:xfrm>
        </p:spPr>
        <p:txBody>
          <a:bodyPr>
            <a:normAutofit/>
          </a:bodyPr>
          <a:lstStyle/>
          <a:p>
            <a:pPr algn="ctr"/>
            <a:r>
              <a:rPr kumimoji="0" lang="en-US" altLang="en-US" sz="3200" b="1" i="0" u="none" strike="noStrike" kern="1200" cap="none" spc="0" normalizeH="0" baseline="0" noProof="0" dirty="0">
                <a:ln>
                  <a:noFill/>
                </a:ln>
                <a:solidFill>
                  <a:srgbClr val="FF0000"/>
                </a:solidFill>
                <a:effectLst/>
                <a:uLnTx/>
                <a:uFillTx/>
                <a:latin typeface="Arial Narrow" panose="020B0606020202030204" pitchFamily="34" charset="0"/>
                <a:ea typeface="Calibri" panose="020F0502020204030204" pitchFamily="34" charset="0"/>
                <a:cs typeface="Calibri" panose="020F0502020204030204" pitchFamily="34" charset="0"/>
              </a:rPr>
              <a:t>Conclusion</a:t>
            </a:r>
            <a:endParaRPr lang="en-IN" sz="4000" b="1" dirty="0">
              <a:solidFill>
                <a:srgbClr val="FF0000"/>
              </a:solidFill>
              <a:latin typeface="Arial Narrow" panose="020B0606020202030204" pitchFamily="34" charset="0"/>
            </a:endParaRPr>
          </a:p>
        </p:txBody>
      </p:sp>
      <p:sp>
        <p:nvSpPr>
          <p:cNvPr id="3" name="Content Placeholder 2">
            <a:extLst>
              <a:ext uri="{FF2B5EF4-FFF2-40B4-BE49-F238E27FC236}">
                <a16:creationId xmlns:a16="http://schemas.microsoft.com/office/drawing/2014/main" id="{90BBF315-B455-EDE8-4119-E5687A7CF594}"/>
              </a:ext>
            </a:extLst>
          </p:cNvPr>
          <p:cNvSpPr>
            <a:spLocks noGrp="1"/>
          </p:cNvSpPr>
          <p:nvPr>
            <p:ph idx="1"/>
          </p:nvPr>
        </p:nvSpPr>
        <p:spPr>
          <a:xfrm>
            <a:off x="838200" y="1307690"/>
            <a:ext cx="10515600" cy="4869273"/>
          </a:xfrm>
        </p:spPr>
        <p:txBody>
          <a:bodyPr>
            <a:normAutofit fontScale="92500"/>
          </a:bodyPr>
          <a:lstStyle/>
          <a:p>
            <a:r>
              <a:rPr lang="en-US" dirty="0"/>
              <a:t>The Soil Moisture Monitoring System provides an efficient and intelligent solution for smart agriculture and water management. </a:t>
            </a:r>
          </a:p>
          <a:p>
            <a:r>
              <a:rPr lang="en-US" dirty="0"/>
              <a:t>It successfully monitors soil moisture levels using a soil moisture sensor and ESP8266 microcontroller. </a:t>
            </a:r>
          </a:p>
          <a:p>
            <a:r>
              <a:rPr lang="en-US" dirty="0"/>
              <a:t>The system ensures real-time monitoring through a web dashboard. </a:t>
            </a:r>
          </a:p>
          <a:p>
            <a:r>
              <a:rPr lang="en-US" dirty="0"/>
              <a:t>Proper irrigation management is achieved using a buzzer alert mechanism when the soil becomes dry. </a:t>
            </a:r>
          </a:p>
          <a:p>
            <a:r>
              <a:rPr lang="en-US" dirty="0"/>
              <a:t>The prototype is low-cost, reliable, and easy to implement. </a:t>
            </a:r>
          </a:p>
          <a:p>
            <a:r>
              <a:rPr lang="en-US" dirty="0"/>
              <a:t>It helps in water conservation and improves crop health and productivity. </a:t>
            </a:r>
          </a:p>
          <a:p>
            <a:r>
              <a:rPr lang="en-US" dirty="0"/>
              <a:t>The system supports the vision of smart farming and sustainable environmental development. </a:t>
            </a:r>
          </a:p>
          <a:p>
            <a:endParaRPr lang="en-IN" dirty="0"/>
          </a:p>
        </p:txBody>
      </p:sp>
    </p:spTree>
    <p:extLst>
      <p:ext uri="{BB962C8B-B14F-4D97-AF65-F5344CB8AC3E}">
        <p14:creationId xmlns:p14="http://schemas.microsoft.com/office/powerpoint/2010/main" val="34601189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869D893-10C6-32CB-4FAF-23149F23AEAA}"/>
              </a:ext>
            </a:extLst>
          </p:cNvPr>
          <p:cNvSpPr txBox="1"/>
          <p:nvPr/>
        </p:nvSpPr>
        <p:spPr>
          <a:xfrm>
            <a:off x="4333567" y="150685"/>
            <a:ext cx="3524865" cy="584775"/>
          </a:xfrm>
          <a:prstGeom prst="rect">
            <a:avLst/>
          </a:prstGeom>
          <a:noFill/>
        </p:spPr>
        <p:txBody>
          <a:bodyPr wrap="square" rtlCol="0">
            <a:spAutoFit/>
          </a:bodyPr>
          <a:lstStyle/>
          <a:p>
            <a:pPr algn="ctr"/>
            <a:r>
              <a:rPr lang="en-US" sz="3200" b="1" dirty="0">
                <a:solidFill>
                  <a:srgbClr val="FF0000"/>
                </a:solidFill>
              </a:rPr>
              <a:t>Home Page</a:t>
            </a:r>
          </a:p>
        </p:txBody>
      </p:sp>
      <p:pic>
        <p:nvPicPr>
          <p:cNvPr id="5" name="Picture 4">
            <a:extLst>
              <a:ext uri="{FF2B5EF4-FFF2-40B4-BE49-F238E27FC236}">
                <a16:creationId xmlns:a16="http://schemas.microsoft.com/office/drawing/2014/main" id="{97D516D3-2E3E-FAFF-0B45-A96CCD364A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5072" y="865239"/>
            <a:ext cx="10805652" cy="5842076"/>
          </a:xfrm>
          <a:prstGeom prst="rect">
            <a:avLst/>
          </a:prstGeom>
        </p:spPr>
      </p:pic>
    </p:spTree>
    <p:extLst>
      <p:ext uri="{BB962C8B-B14F-4D97-AF65-F5344CB8AC3E}">
        <p14:creationId xmlns:p14="http://schemas.microsoft.com/office/powerpoint/2010/main" val="23604771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0C7C92B-E9A8-C821-A4AA-B9218930F691}"/>
              </a:ext>
            </a:extLst>
          </p:cNvPr>
          <p:cNvSpPr txBox="1"/>
          <p:nvPr/>
        </p:nvSpPr>
        <p:spPr>
          <a:xfrm>
            <a:off x="4306529" y="442452"/>
            <a:ext cx="4011561" cy="584775"/>
          </a:xfrm>
          <a:prstGeom prst="rect">
            <a:avLst/>
          </a:prstGeom>
          <a:noFill/>
        </p:spPr>
        <p:txBody>
          <a:bodyPr wrap="square" rtlCol="0">
            <a:spAutoFit/>
          </a:bodyPr>
          <a:lstStyle/>
          <a:p>
            <a:r>
              <a:rPr lang="en-US" sz="3200" dirty="0">
                <a:solidFill>
                  <a:srgbClr val="FF0000"/>
                </a:solidFill>
              </a:rPr>
              <a:t>Program code</a:t>
            </a:r>
            <a:endParaRPr lang="en-IN" sz="3200" dirty="0">
              <a:solidFill>
                <a:srgbClr val="FF0000"/>
              </a:solidFill>
            </a:endParaRPr>
          </a:p>
        </p:txBody>
      </p:sp>
      <p:pic>
        <p:nvPicPr>
          <p:cNvPr id="6" name="Picture 5">
            <a:extLst>
              <a:ext uri="{FF2B5EF4-FFF2-40B4-BE49-F238E27FC236}">
                <a16:creationId xmlns:a16="http://schemas.microsoft.com/office/drawing/2014/main" id="{597A0904-01FC-2239-79F1-7DC3CC9404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1883" y="1169295"/>
            <a:ext cx="9881419" cy="5374071"/>
          </a:xfrm>
          <a:prstGeom prst="rect">
            <a:avLst/>
          </a:prstGeom>
        </p:spPr>
      </p:pic>
    </p:spTree>
    <p:extLst>
      <p:ext uri="{BB962C8B-B14F-4D97-AF65-F5344CB8AC3E}">
        <p14:creationId xmlns:p14="http://schemas.microsoft.com/office/powerpoint/2010/main" val="13025740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C08900B-4006-A4E6-3862-D4AD54E5A8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2555" y="793647"/>
            <a:ext cx="9370142" cy="5270705"/>
          </a:xfrm>
          <a:prstGeom prst="rect">
            <a:avLst/>
          </a:prstGeom>
        </p:spPr>
      </p:pic>
    </p:spTree>
    <p:extLst>
      <p:ext uri="{BB962C8B-B14F-4D97-AF65-F5344CB8AC3E}">
        <p14:creationId xmlns:p14="http://schemas.microsoft.com/office/powerpoint/2010/main" val="31684534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13618E-4295-A9D3-79AD-6C38F7C35C72}"/>
              </a:ext>
            </a:extLst>
          </p:cNvPr>
          <p:cNvSpPr>
            <a:spLocks noGrp="1"/>
          </p:cNvSpPr>
          <p:nvPr>
            <p:ph type="title"/>
          </p:nvPr>
        </p:nvSpPr>
        <p:spPr>
          <a:xfrm>
            <a:off x="1359309" y="217641"/>
            <a:ext cx="8669594" cy="1325563"/>
          </a:xfrm>
        </p:spPr>
        <p:txBody>
          <a:bodyPr>
            <a:normAutofit/>
          </a:bodyPr>
          <a:lstStyle/>
          <a:p>
            <a:pPr algn="ctr"/>
            <a:r>
              <a:rPr kumimoji="0" lang="en-US" altLang="en-US" sz="3600" b="1" i="0" u="none" strike="noStrike" kern="1200" cap="none" spc="0" normalizeH="0" baseline="0" noProof="0" dirty="0">
                <a:ln>
                  <a:noFill/>
                </a:ln>
                <a:solidFill>
                  <a:srgbClr val="FF0000"/>
                </a:solidFill>
                <a:effectLst/>
                <a:uLnTx/>
                <a:uFillTx/>
                <a:latin typeface="Arial Narrow" panose="020B0606020202030204" pitchFamily="34" charset="0"/>
                <a:ea typeface="Calibri" panose="020F0502020204030204" pitchFamily="34" charset="0"/>
                <a:cs typeface="Calibri" panose="020F0502020204030204" pitchFamily="34" charset="0"/>
              </a:rPr>
              <a:t>Applications</a:t>
            </a:r>
            <a:endParaRPr lang="en-IN" b="1" dirty="0">
              <a:solidFill>
                <a:srgbClr val="FF0000"/>
              </a:solidFill>
              <a:latin typeface="Arial Narrow" panose="020B0606020202030204" pitchFamily="34" charset="0"/>
            </a:endParaRPr>
          </a:p>
        </p:txBody>
      </p:sp>
      <p:sp>
        <p:nvSpPr>
          <p:cNvPr id="3" name="Content Placeholder 2">
            <a:extLst>
              <a:ext uri="{FF2B5EF4-FFF2-40B4-BE49-F238E27FC236}">
                <a16:creationId xmlns:a16="http://schemas.microsoft.com/office/drawing/2014/main" id="{EC9C8933-C67D-235E-9728-C9872F4B024B}"/>
              </a:ext>
            </a:extLst>
          </p:cNvPr>
          <p:cNvSpPr>
            <a:spLocks noGrp="1"/>
          </p:cNvSpPr>
          <p:nvPr>
            <p:ph idx="1"/>
          </p:nvPr>
        </p:nvSpPr>
        <p:spPr>
          <a:xfrm>
            <a:off x="956187" y="1366684"/>
            <a:ext cx="10515600" cy="4527858"/>
          </a:xfrm>
        </p:spPr>
        <p:txBody>
          <a:bodyPr>
            <a:normAutofit fontScale="92500"/>
          </a:bodyPr>
          <a:lstStyle/>
          <a:p>
            <a:r>
              <a:rPr lang="en-US" dirty="0"/>
              <a:t>Smart Farming – Real-time monitoring of soil moisture levels</a:t>
            </a:r>
          </a:p>
          <a:p>
            <a:r>
              <a:rPr lang="en-US" dirty="0"/>
              <a:t> Agricultural Fields – Efficient irrigation management for crops</a:t>
            </a:r>
          </a:p>
          <a:p>
            <a:r>
              <a:rPr lang="en-US" dirty="0"/>
              <a:t> Gardens &amp; Parks – Maintaining proper watering of plants</a:t>
            </a:r>
          </a:p>
          <a:p>
            <a:r>
              <a:rPr lang="en-US" dirty="0"/>
              <a:t> Greenhouses – Monitoring soil conditions for better plant growth</a:t>
            </a:r>
          </a:p>
          <a:p>
            <a:r>
              <a:rPr lang="en-US" dirty="0"/>
              <a:t> Research &amp; Environmental Studies – Soil analysis and </a:t>
            </a:r>
            <a:r>
              <a:rPr lang="en-US" dirty="0" err="1"/>
              <a:t>waterconservation</a:t>
            </a:r>
            <a:r>
              <a:rPr lang="en-US" dirty="0"/>
              <a:t> studies Residential Areas – Smart gardening and lawn</a:t>
            </a:r>
          </a:p>
          <a:p>
            <a:r>
              <a:rPr lang="en-US" dirty="0"/>
              <a:t> maintenance Nurseries – Maintaining ideal moisture conditions for plants</a:t>
            </a:r>
          </a:p>
          <a:p>
            <a:r>
              <a:rPr lang="en-US" dirty="0"/>
              <a:t> Water Conservation Projects – Reducing unnecessary </a:t>
            </a:r>
            <a:r>
              <a:rPr lang="en-US" dirty="0" err="1"/>
              <a:t>waterusage</a:t>
            </a:r>
            <a:r>
              <a:rPr lang="en-US" dirty="0"/>
              <a:t> through smart monitoring</a:t>
            </a:r>
            <a:endParaRPr lang="en-IN" dirty="0"/>
          </a:p>
        </p:txBody>
      </p:sp>
    </p:spTree>
    <p:extLst>
      <p:ext uri="{BB962C8B-B14F-4D97-AF65-F5344CB8AC3E}">
        <p14:creationId xmlns:p14="http://schemas.microsoft.com/office/powerpoint/2010/main" val="32088996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27F5C-983A-BBB2-CC1A-FAC13FE45CDA}"/>
              </a:ext>
            </a:extLst>
          </p:cNvPr>
          <p:cNvSpPr>
            <a:spLocks noGrp="1"/>
          </p:cNvSpPr>
          <p:nvPr>
            <p:ph type="title"/>
          </p:nvPr>
        </p:nvSpPr>
        <p:spPr>
          <a:xfrm>
            <a:off x="1496961" y="404454"/>
            <a:ext cx="7647039" cy="932733"/>
          </a:xfrm>
        </p:spPr>
        <p:txBody>
          <a:bodyPr>
            <a:normAutofit fontScale="90000"/>
          </a:bodyPr>
          <a:lstStyle/>
          <a:p>
            <a:pPr marL="0" marR="0" lvl="0" indent="0" algn="ctr" defTabSz="914400" rtl="0" eaLnBrk="0" fontAlgn="base" latinLnBrk="0" hangingPunct="0">
              <a:lnSpc>
                <a:spcPct val="100000"/>
              </a:lnSpc>
              <a:spcBef>
                <a:spcPct val="0"/>
              </a:spcBef>
              <a:spcAft>
                <a:spcPct val="0"/>
              </a:spcAft>
              <a:tabLst/>
              <a:defRPr/>
            </a:pPr>
            <a:r>
              <a:rPr kumimoji="0" lang="en-US" altLang="en-US" sz="3600" b="1" i="0" u="none" strike="noStrike" kern="1200" cap="none" spc="0" normalizeH="0" baseline="0" noProof="0" dirty="0">
                <a:ln>
                  <a:noFill/>
                </a:ln>
                <a:solidFill>
                  <a:srgbClr val="FF0000"/>
                </a:solidFill>
                <a:effectLst/>
                <a:uLnTx/>
                <a:uFillTx/>
                <a:latin typeface="Arial Narrow" panose="020B0606020202030204" pitchFamily="34" charset="0"/>
                <a:ea typeface="Calibri" panose="020F0502020204030204" pitchFamily="34" charset="0"/>
                <a:cs typeface="Calibri" panose="020F0502020204030204" pitchFamily="34" charset="0"/>
              </a:rPr>
              <a:t>References</a:t>
            </a:r>
            <a:br>
              <a:rPr kumimoji="0" lang="en-US" altLang="en-US" sz="3600" b="0" i="0" u="none" strike="noStrike" kern="1200" cap="none" spc="0" normalizeH="0" baseline="0" noProof="0" dirty="0">
                <a:ln>
                  <a:noFill/>
                </a:ln>
                <a:solidFill>
                  <a:srgbClr val="000000"/>
                </a:solidFill>
                <a:effectLst/>
                <a:uLnTx/>
                <a:uFillTx/>
                <a:latin typeface="Agency FB" panose="020B0503020202020204" pitchFamily="34" charset="0"/>
                <a:ea typeface="+mn-ea"/>
                <a:cs typeface="+mn-cs"/>
              </a:rPr>
            </a:br>
            <a:endParaRPr lang="en-IN" dirty="0"/>
          </a:p>
        </p:txBody>
      </p:sp>
      <p:sp>
        <p:nvSpPr>
          <p:cNvPr id="3" name="Content Placeholder 2">
            <a:extLst>
              <a:ext uri="{FF2B5EF4-FFF2-40B4-BE49-F238E27FC236}">
                <a16:creationId xmlns:a16="http://schemas.microsoft.com/office/drawing/2014/main" id="{16C4DB1A-8B6E-E3A5-13B6-70DC59834398}"/>
              </a:ext>
            </a:extLst>
          </p:cNvPr>
          <p:cNvSpPr>
            <a:spLocks noGrp="1"/>
          </p:cNvSpPr>
          <p:nvPr>
            <p:ph idx="1"/>
          </p:nvPr>
        </p:nvSpPr>
        <p:spPr>
          <a:xfrm>
            <a:off x="926690" y="1091380"/>
            <a:ext cx="10515600" cy="5666965"/>
          </a:xfrm>
        </p:spPr>
        <p:txBody>
          <a:bodyPr>
            <a:normAutofit fontScale="92500" lnSpcReduction="10000"/>
          </a:bodyPr>
          <a:lstStyle/>
          <a:p>
            <a:pPr marL="514350" indent="-514350">
              <a:buFont typeface="+mj-lt"/>
              <a:buAutoNum type="arabicPeriod"/>
            </a:pPr>
            <a:r>
              <a:rPr lang="en-IN" dirty="0"/>
              <a:t>S. R. </a:t>
            </a:r>
            <a:r>
              <a:rPr lang="en-IN" dirty="0" err="1"/>
              <a:t>Nandurkar</a:t>
            </a:r>
            <a:r>
              <a:rPr lang="en-IN" dirty="0"/>
              <a:t>, V. R. </a:t>
            </a:r>
            <a:r>
              <a:rPr lang="en-IN" dirty="0" err="1"/>
              <a:t>Thool</a:t>
            </a:r>
            <a:r>
              <a:rPr lang="en-IN" dirty="0"/>
              <a:t>, and R. C. </a:t>
            </a:r>
            <a:r>
              <a:rPr lang="en-IN" dirty="0" err="1"/>
              <a:t>Thool</a:t>
            </a:r>
            <a:r>
              <a:rPr lang="en-IN" dirty="0"/>
              <a:t>,</a:t>
            </a:r>
            <a:br>
              <a:rPr lang="en-IN" dirty="0"/>
            </a:br>
            <a:r>
              <a:rPr lang="en-IN" dirty="0"/>
              <a:t>“Design and Development of Soil Moisture Monitoring System using IoT,”</a:t>
            </a:r>
            <a:br>
              <a:rPr lang="en-IN" dirty="0"/>
            </a:br>
            <a:r>
              <a:rPr lang="en-IN" dirty="0"/>
              <a:t>International Journal of Engineering Research and Technology (IJERT), 2020. </a:t>
            </a:r>
          </a:p>
          <a:p>
            <a:pPr marL="514350" indent="-514350">
              <a:buFont typeface="+mj-lt"/>
              <a:buAutoNum type="arabicPeriod"/>
            </a:pPr>
            <a:r>
              <a:rPr lang="en-IN" dirty="0" err="1"/>
              <a:t>Espressif</a:t>
            </a:r>
            <a:r>
              <a:rPr lang="en-IN" dirty="0"/>
              <a:t> Systems,</a:t>
            </a:r>
            <a:br>
              <a:rPr lang="en-IN" dirty="0"/>
            </a:br>
            <a:r>
              <a:rPr lang="en-IN" i="1" dirty="0"/>
              <a:t>ESP8266 Technical Reference Manual</a:t>
            </a:r>
            <a:r>
              <a:rPr lang="en-IN" dirty="0"/>
              <a:t>, Version 1.7, 2020. </a:t>
            </a:r>
          </a:p>
          <a:p>
            <a:pPr marL="514350" indent="-514350">
              <a:buFont typeface="+mj-lt"/>
              <a:buAutoNum type="arabicPeriod"/>
            </a:pPr>
            <a:r>
              <a:rPr lang="en-IN" dirty="0"/>
              <a:t>HandsOn Technology,</a:t>
            </a:r>
            <a:br>
              <a:rPr lang="en-IN" dirty="0"/>
            </a:br>
            <a:r>
              <a:rPr lang="en-IN" i="1" dirty="0"/>
              <a:t>Soil Moisture Sensor Datasheet</a:t>
            </a:r>
            <a:r>
              <a:rPr lang="en-IN" dirty="0"/>
              <a:t>, 2020. </a:t>
            </a:r>
          </a:p>
          <a:p>
            <a:pPr marL="514350" indent="-514350">
              <a:buFont typeface="+mj-lt"/>
              <a:buAutoNum type="arabicPeriod"/>
            </a:pPr>
            <a:r>
              <a:rPr lang="en-IN" dirty="0"/>
              <a:t>A. Z. </a:t>
            </a:r>
            <a:r>
              <a:rPr lang="en-IN" dirty="0" err="1"/>
              <a:t>Misnan</a:t>
            </a:r>
            <a:r>
              <a:rPr lang="en-IN" dirty="0"/>
              <a:t>, N. A. Husin, and S. N. S. Yahya,</a:t>
            </a:r>
            <a:br>
              <a:rPr lang="en-IN" dirty="0"/>
            </a:br>
            <a:r>
              <a:rPr lang="en-IN" i="1" dirty="0"/>
              <a:t>Embedded Internet of Things (IoT) for Beginners</a:t>
            </a:r>
            <a:r>
              <a:rPr lang="en-IN" dirty="0"/>
              <a:t>,</a:t>
            </a:r>
            <a:br>
              <a:rPr lang="en-IN" dirty="0"/>
            </a:br>
            <a:r>
              <a:rPr lang="en-IN" dirty="0"/>
              <a:t>Pahang, Malaysia: </a:t>
            </a:r>
            <a:r>
              <a:rPr lang="en-IN" dirty="0" err="1"/>
              <a:t>Politeknik</a:t>
            </a:r>
            <a:r>
              <a:rPr lang="en-IN" dirty="0"/>
              <a:t> </a:t>
            </a:r>
            <a:r>
              <a:rPr lang="en-IN" dirty="0" err="1"/>
              <a:t>Muadzam</a:t>
            </a:r>
            <a:r>
              <a:rPr lang="en-IN" dirty="0"/>
              <a:t> Shah, 2024. </a:t>
            </a:r>
          </a:p>
          <a:p>
            <a:pPr marL="514350" indent="-514350">
              <a:buFont typeface="+mj-lt"/>
              <a:buAutoNum type="arabicPeriod"/>
            </a:pPr>
            <a:r>
              <a:rPr lang="en-IN" dirty="0"/>
              <a:t>R. K. Kodali and S. </a:t>
            </a:r>
            <a:r>
              <a:rPr lang="en-IN" dirty="0" err="1"/>
              <a:t>Soratkal</a:t>
            </a:r>
            <a:r>
              <a:rPr lang="en-IN" dirty="0"/>
              <a:t>,</a:t>
            </a:r>
            <a:br>
              <a:rPr lang="en-IN" dirty="0"/>
            </a:br>
            <a:r>
              <a:rPr lang="en-IN" dirty="0"/>
              <a:t>“IoT Based Smart Irrigation System,”</a:t>
            </a:r>
            <a:br>
              <a:rPr lang="en-IN" dirty="0"/>
            </a:br>
            <a:r>
              <a:rPr lang="en-IN" dirty="0"/>
              <a:t>International Conference on Communication and Signal Processing, 2018. </a:t>
            </a:r>
          </a:p>
          <a:p>
            <a:endParaRPr lang="en-IN" dirty="0"/>
          </a:p>
        </p:txBody>
      </p:sp>
    </p:spTree>
    <p:extLst>
      <p:ext uri="{BB962C8B-B14F-4D97-AF65-F5344CB8AC3E}">
        <p14:creationId xmlns:p14="http://schemas.microsoft.com/office/powerpoint/2010/main" val="26541176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TotalTime>
  <Words>1044</Words>
  <Application>Microsoft Office PowerPoint</Application>
  <PresentationFormat>Widescreen</PresentationFormat>
  <Paragraphs>76</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Agency FB</vt:lpstr>
      <vt:lpstr>Arial</vt:lpstr>
      <vt:lpstr>Arial Narrow</vt:lpstr>
      <vt:lpstr>Calibri</vt:lpstr>
      <vt:lpstr>Calibri Light</vt:lpstr>
      <vt:lpstr>Office Theme</vt:lpstr>
      <vt:lpstr>K J COLLEGE OF ENGINEERING AND MANAGEMENT RESEARCH, PUNE</vt:lpstr>
      <vt:lpstr>Introduction </vt:lpstr>
      <vt:lpstr>Literature Survey </vt:lpstr>
      <vt:lpstr>Problem Definition and Objectives </vt:lpstr>
      <vt:lpstr>Block Diagram </vt:lpstr>
      <vt:lpstr>Circuit Diagram </vt:lpstr>
      <vt:lpstr>Implementation Details  </vt:lpstr>
      <vt:lpstr>Results</vt:lpstr>
      <vt:lpstr>Conclusion</vt:lpstr>
      <vt:lpstr>PowerPoint Presentation</vt:lpstr>
      <vt:lpstr>PowerPoint Presentation</vt:lpstr>
      <vt:lpstr>PowerPoint Presentation</vt:lpstr>
      <vt:lpstr>Applications</vt:lpstr>
      <vt:lpstr>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Vishwajit Deshmukh</dc:creator>
  <cp:lastModifiedBy>Shambhudev Chavan</cp:lastModifiedBy>
  <cp:revision>3</cp:revision>
  <dcterms:created xsi:type="dcterms:W3CDTF">2026-05-05T12:34:57Z</dcterms:created>
  <dcterms:modified xsi:type="dcterms:W3CDTF">2026-05-12T08:35:01Z</dcterms:modified>
</cp:coreProperties>
</file>